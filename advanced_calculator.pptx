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70700"/>
  <p:notesSz cx="121920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461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67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2012" y="2873924"/>
            <a:ext cx="1819275" cy="531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1B20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7592"/>
            <a:ext cx="853440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6064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FDFDF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FDFDF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1B20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064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FDFDF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FDFDF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1B20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80261"/>
            <a:ext cx="530352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80261"/>
            <a:ext cx="530352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FDFDF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FDFDF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1B20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FDFDF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FDFDF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FDFDF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FDFDF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6" y="1052"/>
            <a:ext cx="12186383" cy="6863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" y="1051"/>
            <a:ext cx="12192635" cy="6863715"/>
          </a:xfrm>
          <a:custGeom>
            <a:avLst/>
            <a:gdLst/>
            <a:ahLst/>
            <a:cxnLst/>
            <a:rect l="l" t="t" r="r" b="b"/>
            <a:pathLst>
              <a:path w="12192635" h="6863715">
                <a:moveTo>
                  <a:pt x="12192562" y="6863297"/>
                </a:moveTo>
                <a:lnTo>
                  <a:pt x="0" y="6863297"/>
                </a:lnTo>
                <a:lnTo>
                  <a:pt x="0" y="0"/>
                </a:lnTo>
                <a:lnTo>
                  <a:pt x="12192562" y="0"/>
                </a:lnTo>
                <a:lnTo>
                  <a:pt x="12192562" y="6863297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51" y="1051"/>
            <a:ext cx="12192635" cy="6863715"/>
          </a:xfrm>
          <a:custGeom>
            <a:avLst/>
            <a:gdLst/>
            <a:ahLst/>
            <a:cxnLst/>
            <a:rect l="l" t="t" r="r" b="b"/>
            <a:pathLst>
              <a:path w="12192635" h="6863715">
                <a:moveTo>
                  <a:pt x="12192562" y="6863297"/>
                </a:moveTo>
                <a:lnTo>
                  <a:pt x="0" y="6863297"/>
                </a:lnTo>
                <a:lnTo>
                  <a:pt x="0" y="0"/>
                </a:lnTo>
                <a:lnTo>
                  <a:pt x="12192562" y="0"/>
                </a:lnTo>
                <a:lnTo>
                  <a:pt x="12192562" y="6863297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6491" y="392539"/>
            <a:ext cx="3995420" cy="544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1B20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491" y="1348095"/>
            <a:ext cx="5485130" cy="3133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60646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87449" y="6454203"/>
            <a:ext cx="24955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FDFDF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3525" y="6454203"/>
            <a:ext cx="64325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FDFDF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89751"/>
            <a:ext cx="280416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17" y="123698"/>
            <a:ext cx="11942063" cy="6623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3190" y="2265711"/>
            <a:ext cx="547751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Scientific</a:t>
            </a:r>
            <a:r>
              <a:rPr spc="-300" dirty="0"/>
              <a:t> </a:t>
            </a:r>
            <a:r>
              <a:rPr spc="-150" dirty="0"/>
              <a:t>Calculator</a:t>
            </a:r>
            <a:r>
              <a:rPr spc="-285" dirty="0"/>
              <a:t> </a:t>
            </a:r>
            <a:r>
              <a:rPr spc="-80" dirty="0"/>
              <a:t>Application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92112" y="3024585"/>
            <a:ext cx="9007475" cy="1505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0100"/>
              </a:lnSpc>
              <a:spcBef>
                <a:spcPts val="90"/>
              </a:spcBef>
            </a:pPr>
            <a:r>
              <a:rPr sz="1700" spc="-170" dirty="0">
                <a:solidFill>
                  <a:srgbClr val="60646B"/>
                </a:solidFill>
                <a:latin typeface="Lucida Sans Unicode"/>
                <a:cs typeface="Lucida Sans Unicode"/>
              </a:rPr>
              <a:t>An</a:t>
            </a:r>
            <a:r>
              <a:rPr sz="1700" spc="-15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Interactive</a:t>
            </a:r>
            <a:r>
              <a:rPr sz="1700" spc="-14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114" dirty="0">
                <a:solidFill>
                  <a:srgbClr val="60646B"/>
                </a:solidFill>
                <a:latin typeface="Lucida Sans Unicode"/>
                <a:cs typeface="Lucida Sans Unicode"/>
              </a:rPr>
              <a:t>Python-</a:t>
            </a:r>
            <a:r>
              <a:rPr sz="170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Based</a:t>
            </a:r>
            <a:r>
              <a:rPr sz="170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Project </a:t>
            </a:r>
            <a:r>
              <a:rPr sz="1700" spc="-114" dirty="0">
                <a:solidFill>
                  <a:srgbClr val="60646B"/>
                </a:solidFill>
                <a:latin typeface="Lucida Sans Unicode"/>
                <a:cs typeface="Lucida Sans Unicode"/>
              </a:rPr>
              <a:t>Developed</a:t>
            </a:r>
            <a:r>
              <a:rPr sz="170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160" dirty="0">
                <a:solidFill>
                  <a:srgbClr val="60646B"/>
                </a:solidFill>
                <a:latin typeface="Lucida Sans Unicode"/>
                <a:cs typeface="Lucida Sans Unicode"/>
              </a:rPr>
              <a:t>Using</a:t>
            </a:r>
            <a:r>
              <a:rPr sz="170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the</a:t>
            </a:r>
            <a:r>
              <a:rPr sz="1700" spc="-22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145" dirty="0">
                <a:solidFill>
                  <a:srgbClr val="60646B"/>
                </a:solidFill>
                <a:latin typeface="Lucida Sans Unicode"/>
                <a:cs typeface="Lucida Sans Unicode"/>
              </a:rPr>
              <a:t>Tkinter</a:t>
            </a:r>
            <a:r>
              <a:rPr sz="1700" spc="-13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105" dirty="0">
                <a:solidFill>
                  <a:srgbClr val="60646B"/>
                </a:solidFill>
                <a:latin typeface="Lucida Sans Unicode"/>
                <a:cs typeface="Lucida Sans Unicode"/>
              </a:rPr>
              <a:t>Graphical</a:t>
            </a:r>
            <a:r>
              <a:rPr sz="1700" spc="-14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125" dirty="0">
                <a:solidFill>
                  <a:srgbClr val="60646B"/>
                </a:solidFill>
                <a:latin typeface="Lucida Sans Unicode"/>
                <a:cs typeface="Lucida Sans Unicode"/>
              </a:rPr>
              <a:t>User</a:t>
            </a:r>
            <a:r>
              <a:rPr sz="1700" spc="-13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95" dirty="0">
                <a:solidFill>
                  <a:srgbClr val="60646B"/>
                </a:solidFill>
                <a:latin typeface="Lucida Sans Unicode"/>
                <a:cs typeface="Lucida Sans Unicode"/>
              </a:rPr>
              <a:t>Interface</a:t>
            </a:r>
            <a:r>
              <a:rPr sz="1700" spc="-14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95" dirty="0">
                <a:solidFill>
                  <a:srgbClr val="60646B"/>
                </a:solidFill>
                <a:latin typeface="Lucida Sans Unicode"/>
                <a:cs typeface="Lucida Sans Unicode"/>
              </a:rPr>
              <a:t>Library</a:t>
            </a:r>
            <a:r>
              <a:rPr sz="1700" spc="-12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325" dirty="0">
                <a:solidFill>
                  <a:srgbClr val="60646B"/>
                </a:solidFill>
                <a:latin typeface="Lucida Sans Unicode"/>
                <a:cs typeface="Lucida Sans Unicode"/>
              </a:rPr>
              <a:t>| </a:t>
            </a:r>
            <a:r>
              <a:rPr sz="1650" b="1" spc="-35" dirty="0">
                <a:solidFill>
                  <a:srgbClr val="60646B"/>
                </a:solidFill>
                <a:latin typeface="Trebuchet MS"/>
                <a:cs typeface="Trebuchet MS"/>
              </a:rPr>
              <a:t>NEXTHIKES</a:t>
            </a:r>
            <a:r>
              <a:rPr sz="1650" b="1" spc="-70" dirty="0">
                <a:solidFill>
                  <a:srgbClr val="60646B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60646B"/>
                </a:solidFill>
                <a:latin typeface="Trebuchet MS"/>
                <a:cs typeface="Trebuchet MS"/>
              </a:rPr>
              <a:t>IT</a:t>
            </a:r>
            <a:r>
              <a:rPr sz="1650" b="1" spc="-60" dirty="0">
                <a:solidFill>
                  <a:srgbClr val="60646B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60646B"/>
                </a:solidFill>
                <a:latin typeface="Trebuchet MS"/>
                <a:cs typeface="Trebuchet MS"/>
              </a:rPr>
              <a:t>SOLUTIONS</a:t>
            </a:r>
            <a:endParaRPr sz="1650" dirty="0">
              <a:latin typeface="Trebuchet MS"/>
              <a:cs typeface="Trebuchet MS"/>
            </a:endParaRPr>
          </a:p>
          <a:p>
            <a:pPr marL="5715" algn="ctr">
              <a:lnSpc>
                <a:spcPct val="100000"/>
              </a:lnSpc>
              <a:spcBef>
                <a:spcPts val="165"/>
              </a:spcBef>
            </a:pPr>
            <a:r>
              <a:rPr sz="1700" spc="-95" dirty="0">
                <a:solidFill>
                  <a:srgbClr val="60646B"/>
                </a:solidFill>
                <a:latin typeface="Lucida Sans Unicode"/>
                <a:cs typeface="Lucida Sans Unicode"/>
              </a:rPr>
              <a:t>Presented</a:t>
            </a:r>
            <a:r>
              <a:rPr sz="170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by</a:t>
            </a:r>
            <a:r>
              <a:rPr sz="1700" spc="-114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145" dirty="0">
                <a:solidFill>
                  <a:srgbClr val="60646B"/>
                </a:solidFill>
                <a:latin typeface="Lucida Sans Unicode"/>
                <a:cs typeface="Lucida Sans Unicode"/>
              </a:rPr>
              <a:t>Abhishek</a:t>
            </a:r>
            <a:r>
              <a:rPr sz="1700" spc="-114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Kumarr</a:t>
            </a:r>
            <a:endParaRPr sz="17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550" dirty="0">
              <a:latin typeface="Lucida Sans Unicode"/>
              <a:cs typeface="Lucida Sans Unicode"/>
            </a:endParaRPr>
          </a:p>
          <a:p>
            <a:pPr marL="3175" algn="ctr">
              <a:lnSpc>
                <a:spcPct val="100000"/>
              </a:lnSpc>
            </a:pPr>
            <a:r>
              <a:rPr sz="1700" spc="-125" dirty="0">
                <a:solidFill>
                  <a:srgbClr val="60646B"/>
                </a:solidFill>
                <a:latin typeface="Lucida Sans Unicode"/>
                <a:cs typeface="Lucida Sans Unicode"/>
              </a:rPr>
              <a:t>November</a:t>
            </a:r>
            <a:r>
              <a:rPr sz="1700" spc="-10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700" spc="-20" dirty="0">
                <a:solidFill>
                  <a:srgbClr val="60646B"/>
                </a:solidFill>
                <a:latin typeface="Lucida Sans Unicode"/>
                <a:cs typeface="Lucida Sans Unicode"/>
              </a:rPr>
              <a:t>2025</a:t>
            </a:r>
            <a:endParaRPr sz="17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1447" y="-297013"/>
            <a:ext cx="12193905" cy="6863715"/>
            <a:chOff x="0" y="1051"/>
            <a:chExt cx="12193905" cy="6863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191" y="479191"/>
              <a:ext cx="5120079" cy="590701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9352"/>
              <a:ext cx="6324599" cy="65684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95395" y="479191"/>
              <a:ext cx="796925" cy="796925"/>
            </a:xfrm>
            <a:custGeom>
              <a:avLst/>
              <a:gdLst/>
              <a:ahLst/>
              <a:cxnLst/>
              <a:rect l="l" t="t" r="r" b="b"/>
              <a:pathLst>
                <a:path w="796925" h="796925">
                  <a:moveTo>
                    <a:pt x="717209" y="796899"/>
                  </a:moveTo>
                  <a:lnTo>
                    <a:pt x="79689" y="796899"/>
                  </a:lnTo>
                  <a:lnTo>
                    <a:pt x="71839" y="796520"/>
                  </a:lnTo>
                  <a:lnTo>
                    <a:pt x="35407" y="783481"/>
                  </a:lnTo>
                  <a:lnTo>
                    <a:pt x="9419" y="754813"/>
                  </a:lnTo>
                  <a:lnTo>
                    <a:pt x="0" y="717209"/>
                  </a:lnTo>
                  <a:lnTo>
                    <a:pt x="0" y="79689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717209" y="0"/>
                  </a:lnTo>
                  <a:lnTo>
                    <a:pt x="754812" y="9420"/>
                  </a:lnTo>
                  <a:lnTo>
                    <a:pt x="783480" y="35408"/>
                  </a:lnTo>
                  <a:lnTo>
                    <a:pt x="796519" y="71839"/>
                  </a:lnTo>
                  <a:lnTo>
                    <a:pt x="796899" y="79689"/>
                  </a:lnTo>
                  <a:lnTo>
                    <a:pt x="796899" y="717209"/>
                  </a:lnTo>
                  <a:lnTo>
                    <a:pt x="787477" y="754813"/>
                  </a:lnTo>
                  <a:lnTo>
                    <a:pt x="761490" y="783481"/>
                  </a:lnTo>
                  <a:lnTo>
                    <a:pt x="725059" y="796520"/>
                  </a:lnTo>
                  <a:lnTo>
                    <a:pt x="717209" y="79689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87591" y="758106"/>
              <a:ext cx="212725" cy="239395"/>
            </a:xfrm>
            <a:custGeom>
              <a:avLst/>
              <a:gdLst/>
              <a:ahLst/>
              <a:cxnLst/>
              <a:rect l="l" t="t" r="r" b="b"/>
              <a:pathLst>
                <a:path w="212725" h="239394">
                  <a:moveTo>
                    <a:pt x="0" y="26563"/>
                  </a:moveTo>
                  <a:lnTo>
                    <a:pt x="0" y="23040"/>
                  </a:lnTo>
                  <a:lnTo>
                    <a:pt x="674" y="19652"/>
                  </a:lnTo>
                  <a:lnTo>
                    <a:pt x="16397" y="2022"/>
                  </a:lnTo>
                  <a:lnTo>
                    <a:pt x="19652" y="674"/>
                  </a:lnTo>
                  <a:lnTo>
                    <a:pt x="23040" y="0"/>
                  </a:lnTo>
                  <a:lnTo>
                    <a:pt x="26563" y="0"/>
                  </a:lnTo>
                  <a:lnTo>
                    <a:pt x="185943" y="0"/>
                  </a:lnTo>
                  <a:lnTo>
                    <a:pt x="189465" y="0"/>
                  </a:lnTo>
                  <a:lnTo>
                    <a:pt x="192854" y="674"/>
                  </a:lnTo>
                  <a:lnTo>
                    <a:pt x="212506" y="26563"/>
                  </a:lnTo>
                  <a:lnTo>
                    <a:pt x="212506" y="212506"/>
                  </a:lnTo>
                  <a:lnTo>
                    <a:pt x="185943" y="239069"/>
                  </a:lnTo>
                  <a:lnTo>
                    <a:pt x="26563" y="239069"/>
                  </a:lnTo>
                  <a:lnTo>
                    <a:pt x="0" y="216029"/>
                  </a:lnTo>
                  <a:lnTo>
                    <a:pt x="0" y="212506"/>
                  </a:lnTo>
                  <a:lnTo>
                    <a:pt x="0" y="26563"/>
                  </a:lnTo>
                  <a:close/>
                </a:path>
              </a:pathLst>
            </a:custGeom>
            <a:ln w="26563">
              <a:solidFill>
                <a:srgbClr val="008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7436" y="797951"/>
              <a:ext cx="132816" cy="664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40718" y="904204"/>
              <a:ext cx="106680" cy="40005"/>
            </a:xfrm>
            <a:custGeom>
              <a:avLst/>
              <a:gdLst/>
              <a:ahLst/>
              <a:cxnLst/>
              <a:rect l="l" t="t" r="r" b="b"/>
              <a:pathLst>
                <a:path w="106679" h="40005">
                  <a:moveTo>
                    <a:pt x="0" y="0"/>
                  </a:moveTo>
                  <a:lnTo>
                    <a:pt x="0" y="132"/>
                  </a:lnTo>
                </a:path>
                <a:path w="106679" h="40005">
                  <a:moveTo>
                    <a:pt x="53126" y="0"/>
                  </a:moveTo>
                  <a:lnTo>
                    <a:pt x="53126" y="132"/>
                  </a:lnTo>
                </a:path>
                <a:path w="106679" h="40005">
                  <a:moveTo>
                    <a:pt x="106253" y="0"/>
                  </a:moveTo>
                  <a:lnTo>
                    <a:pt x="106253" y="132"/>
                  </a:lnTo>
                </a:path>
                <a:path w="106679" h="40005">
                  <a:moveTo>
                    <a:pt x="0" y="39844"/>
                  </a:moveTo>
                  <a:lnTo>
                    <a:pt x="0" y="39977"/>
                  </a:lnTo>
                </a:path>
                <a:path w="106679" h="40005">
                  <a:moveTo>
                    <a:pt x="53126" y="39844"/>
                  </a:moveTo>
                  <a:lnTo>
                    <a:pt x="53126" y="39977"/>
                  </a:lnTo>
                </a:path>
                <a:path w="106679" h="40005">
                  <a:moveTo>
                    <a:pt x="106253" y="39844"/>
                  </a:moveTo>
                  <a:lnTo>
                    <a:pt x="106253" y="39977"/>
                  </a:lnTo>
                </a:path>
              </a:pathLst>
            </a:custGeom>
            <a:ln w="26563">
              <a:solidFill>
                <a:srgbClr val="008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582695" y="1430162"/>
            <a:ext cx="3433445" cy="542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50" dirty="0"/>
              <a:t>Scientific</a:t>
            </a:r>
            <a:r>
              <a:rPr spc="-305" dirty="0"/>
              <a:t> </a:t>
            </a:r>
            <a:r>
              <a:rPr spc="-120" dirty="0"/>
              <a:t>Calculator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248400" y="2063750"/>
            <a:ext cx="5186624" cy="2142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1760">
              <a:lnSpc>
                <a:spcPct val="116199"/>
              </a:lnSpc>
              <a:spcBef>
                <a:spcPts val="95"/>
              </a:spcBef>
            </a:pP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Python-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based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60" dirty="0">
                <a:solidFill>
                  <a:srgbClr val="60646B"/>
                </a:solidFill>
                <a:latin typeface="Lucida Sans Unicode"/>
                <a:cs typeface="Lucida Sans Unicode"/>
              </a:rPr>
              <a:t>calculator</a:t>
            </a:r>
            <a:r>
              <a:rPr sz="1350" spc="-2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application</a:t>
            </a: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built</a:t>
            </a: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5" dirty="0">
                <a:solidFill>
                  <a:srgbClr val="60646B"/>
                </a:solidFill>
                <a:latin typeface="Lucida Sans Unicode"/>
                <a:cs typeface="Lucida Sans Unicode"/>
              </a:rPr>
              <a:t>with</a:t>
            </a: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b="1" spc="-75" dirty="0">
                <a:solidFill>
                  <a:srgbClr val="60646B"/>
                </a:solidFill>
                <a:latin typeface="Arial"/>
                <a:cs typeface="Arial"/>
              </a:rPr>
              <a:t>Tkinter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,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Python's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standard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GUI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library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for</a:t>
            </a:r>
            <a:r>
              <a:rPr sz="1350" spc="-6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creating</a:t>
            </a:r>
            <a:r>
              <a:rPr sz="1350" spc="-114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graphical interfaces</a:t>
            </a:r>
            <a:endParaRPr sz="13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2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16199"/>
              </a:lnSpc>
            </a:pP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Delivers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both</a:t>
            </a:r>
            <a:r>
              <a:rPr sz="1350" spc="-10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b="1" spc="-85" dirty="0">
                <a:solidFill>
                  <a:srgbClr val="60646B"/>
                </a:solidFill>
                <a:latin typeface="Arial"/>
                <a:cs typeface="Arial"/>
              </a:rPr>
              <a:t>basic</a:t>
            </a:r>
            <a:r>
              <a:rPr sz="1350" b="1" spc="-10" dirty="0">
                <a:solidFill>
                  <a:srgbClr val="60646B"/>
                </a:solidFill>
                <a:latin typeface="Arial"/>
                <a:cs typeface="Arial"/>
              </a:rPr>
              <a:t> </a:t>
            </a:r>
            <a:r>
              <a:rPr sz="1350" b="1" spc="-60" dirty="0">
                <a:solidFill>
                  <a:srgbClr val="60646B"/>
                </a:solidFill>
                <a:latin typeface="Arial"/>
                <a:cs typeface="Arial"/>
              </a:rPr>
              <a:t>arithmetic</a:t>
            </a:r>
            <a:r>
              <a:rPr sz="1350" b="1" spc="-5" dirty="0">
                <a:solidFill>
                  <a:srgbClr val="60646B"/>
                </a:solidFill>
                <a:latin typeface="Arial"/>
                <a:cs typeface="Arial"/>
              </a:rPr>
              <a:t> </a:t>
            </a:r>
            <a:r>
              <a:rPr sz="1350" b="1" spc="-90" dirty="0">
                <a:solidFill>
                  <a:srgbClr val="60646B"/>
                </a:solidFill>
                <a:latin typeface="Arial"/>
                <a:cs typeface="Arial"/>
              </a:rPr>
              <a:t>operations</a:t>
            </a:r>
            <a:r>
              <a:rPr sz="1350" b="1" spc="5" dirty="0">
                <a:solidFill>
                  <a:srgbClr val="60646B"/>
                </a:solidFill>
                <a:latin typeface="Arial"/>
                <a:cs typeface="Arial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and </a:t>
            </a:r>
            <a:r>
              <a:rPr sz="1350" b="1" spc="-45" dirty="0">
                <a:solidFill>
                  <a:srgbClr val="60646B"/>
                </a:solidFill>
                <a:latin typeface="Arial"/>
                <a:cs typeface="Arial"/>
              </a:rPr>
              <a:t>advanced </a:t>
            </a:r>
            <a:r>
              <a:rPr sz="1350" b="1" spc="-70" dirty="0">
                <a:solidFill>
                  <a:srgbClr val="60646B"/>
                </a:solidFill>
                <a:latin typeface="Arial"/>
                <a:cs typeface="Arial"/>
              </a:rPr>
              <a:t>scientific</a:t>
            </a:r>
            <a:r>
              <a:rPr sz="1350" b="1" spc="10" dirty="0">
                <a:solidFill>
                  <a:srgbClr val="60646B"/>
                </a:solidFill>
                <a:latin typeface="Arial"/>
                <a:cs typeface="Arial"/>
              </a:rPr>
              <a:t> </a:t>
            </a:r>
            <a:r>
              <a:rPr sz="1350" b="1" spc="-100" dirty="0">
                <a:solidFill>
                  <a:srgbClr val="60646B"/>
                </a:solidFill>
                <a:latin typeface="Arial"/>
                <a:cs typeface="Arial"/>
              </a:rPr>
              <a:t>functions</a:t>
            </a:r>
            <a:r>
              <a:rPr sz="1350" b="1" spc="25" dirty="0">
                <a:solidFill>
                  <a:srgbClr val="60646B"/>
                </a:solidFill>
                <a:latin typeface="Arial"/>
                <a:cs typeface="Arial"/>
              </a:rPr>
              <a:t> </a:t>
            </a:r>
            <a:r>
              <a:rPr sz="1350" spc="-120" dirty="0">
                <a:solidFill>
                  <a:srgbClr val="60646B"/>
                </a:solidFill>
                <a:latin typeface="Lucida Sans Unicode"/>
                <a:cs typeface="Lucida Sans Unicode"/>
              </a:rPr>
              <a:t>through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5" dirty="0">
                <a:solidFill>
                  <a:srgbClr val="60646B"/>
                </a:solidFill>
                <a:latin typeface="Lucida Sans Unicode"/>
                <a:cs typeface="Lucida Sans Unicode"/>
              </a:rPr>
              <a:t>an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intuitive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graphical interface</a:t>
            </a:r>
            <a:endParaRPr sz="13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250" dirty="0">
              <a:latin typeface="Lucida Sans Unicode"/>
              <a:cs typeface="Lucida Sans Unicode"/>
            </a:endParaRPr>
          </a:p>
          <a:p>
            <a:pPr marL="12700" marR="441325">
              <a:lnSpc>
                <a:spcPct val="116199"/>
              </a:lnSpc>
            </a:pP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Demonstrates</a:t>
            </a:r>
            <a:r>
              <a:rPr sz="1350" spc="-6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practical</a:t>
            </a:r>
            <a:r>
              <a:rPr sz="1350" spc="-1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application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of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Python </a:t>
            </a:r>
            <a:r>
              <a:rPr sz="1350" spc="-25" dirty="0">
                <a:solidFill>
                  <a:srgbClr val="60646B"/>
                </a:solidFill>
                <a:latin typeface="Lucida Sans Unicode"/>
                <a:cs typeface="Lucida Sans Unicode"/>
              </a:rPr>
              <a:t>GUI </a:t>
            </a:r>
            <a:r>
              <a:rPr sz="1350" spc="-125" dirty="0">
                <a:solidFill>
                  <a:srgbClr val="60646B"/>
                </a:solidFill>
                <a:latin typeface="Lucida Sans Unicode"/>
                <a:cs typeface="Lucida Sans Unicode"/>
              </a:rPr>
              <a:t>programming</a:t>
            </a:r>
            <a:r>
              <a:rPr sz="1350" spc="-10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concepts</a:t>
            </a:r>
            <a:r>
              <a:rPr sz="1350" spc="-6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10" dirty="0">
                <a:solidFill>
                  <a:srgbClr val="60646B"/>
                </a:solidFill>
                <a:latin typeface="Lucida Sans Unicode"/>
                <a:cs typeface="Lucida Sans Unicode"/>
              </a:rPr>
              <a:t>in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real-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world</a:t>
            </a:r>
            <a:r>
              <a:rPr sz="1350" spc="-6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software development</a:t>
            </a:r>
            <a:endParaRPr sz="1350" dirty="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1" y="1051"/>
            <a:ext cx="12192635" cy="6863715"/>
            <a:chOff x="1051" y="1051"/>
            <a:chExt cx="12192635" cy="6863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6" y="1052"/>
              <a:ext cx="12186383" cy="68632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51" y="1051"/>
              <a:ext cx="12192635" cy="6863715"/>
            </a:xfrm>
            <a:custGeom>
              <a:avLst/>
              <a:gdLst/>
              <a:ahLst/>
              <a:cxnLst/>
              <a:rect l="l" t="t" r="r" b="b"/>
              <a:pathLst>
                <a:path w="12192635" h="6863715">
                  <a:moveTo>
                    <a:pt x="12192562" y="6863297"/>
                  </a:moveTo>
                  <a:lnTo>
                    <a:pt x="0" y="6863297"/>
                  </a:lnTo>
                  <a:lnTo>
                    <a:pt x="0" y="0"/>
                  </a:lnTo>
                  <a:lnTo>
                    <a:pt x="12192562" y="0"/>
                  </a:lnTo>
                  <a:lnTo>
                    <a:pt x="12192562" y="6863297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051" y="1051"/>
            <a:ext cx="12192635" cy="6863715"/>
          </a:xfrm>
          <a:custGeom>
            <a:avLst/>
            <a:gdLst/>
            <a:ahLst/>
            <a:cxnLst/>
            <a:rect l="l" t="t" r="r" b="b"/>
            <a:pathLst>
              <a:path w="12192635" h="6863715">
                <a:moveTo>
                  <a:pt x="12192562" y="6863297"/>
                </a:moveTo>
                <a:lnTo>
                  <a:pt x="0" y="6863297"/>
                </a:lnTo>
                <a:lnTo>
                  <a:pt x="0" y="0"/>
                </a:lnTo>
                <a:lnTo>
                  <a:pt x="12192562" y="0"/>
                </a:lnTo>
                <a:lnTo>
                  <a:pt x="12192562" y="6863297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-125" dirty="0"/>
              <a:t>Calculator</a:t>
            </a:r>
            <a:r>
              <a:rPr sz="3350" spc="-295" dirty="0"/>
              <a:t> </a:t>
            </a:r>
            <a:r>
              <a:rPr sz="3350" spc="-95" dirty="0"/>
              <a:t>Interface</a:t>
            </a:r>
            <a:endParaRPr sz="3350"/>
          </a:p>
        </p:txBody>
      </p:sp>
      <p:sp>
        <p:nvSpPr>
          <p:cNvPr id="7" name="object 7"/>
          <p:cNvSpPr/>
          <p:nvPr/>
        </p:nvSpPr>
        <p:spPr>
          <a:xfrm>
            <a:off x="479191" y="1156556"/>
            <a:ext cx="5499100" cy="20320"/>
          </a:xfrm>
          <a:custGeom>
            <a:avLst/>
            <a:gdLst/>
            <a:ahLst/>
            <a:cxnLst/>
            <a:rect l="l" t="t" r="r" b="b"/>
            <a:pathLst>
              <a:path w="5499100" h="20319">
                <a:moveTo>
                  <a:pt x="5498606" y="19922"/>
                </a:moveTo>
                <a:lnTo>
                  <a:pt x="0" y="19922"/>
                </a:lnTo>
                <a:lnTo>
                  <a:pt x="0" y="0"/>
                </a:lnTo>
                <a:lnTo>
                  <a:pt x="5498606" y="0"/>
                </a:lnTo>
                <a:lnTo>
                  <a:pt x="5498606" y="19922"/>
                </a:lnTo>
                <a:close/>
              </a:path>
            </a:pathLst>
          </a:custGeom>
          <a:solidFill>
            <a:srgbClr val="D9DA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9191" y="2351905"/>
            <a:ext cx="5499100" cy="20320"/>
          </a:xfrm>
          <a:custGeom>
            <a:avLst/>
            <a:gdLst/>
            <a:ahLst/>
            <a:cxnLst/>
            <a:rect l="l" t="t" r="r" b="b"/>
            <a:pathLst>
              <a:path w="5499100" h="20319">
                <a:moveTo>
                  <a:pt x="5498606" y="19922"/>
                </a:moveTo>
                <a:lnTo>
                  <a:pt x="0" y="19922"/>
                </a:lnTo>
                <a:lnTo>
                  <a:pt x="0" y="0"/>
                </a:lnTo>
                <a:lnTo>
                  <a:pt x="5498606" y="0"/>
                </a:lnTo>
                <a:lnTo>
                  <a:pt x="5498606" y="19922"/>
                </a:lnTo>
                <a:close/>
              </a:path>
            </a:pathLst>
          </a:custGeom>
          <a:solidFill>
            <a:srgbClr val="D9DA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9191" y="3547254"/>
            <a:ext cx="5499100" cy="20320"/>
          </a:xfrm>
          <a:custGeom>
            <a:avLst/>
            <a:gdLst/>
            <a:ahLst/>
            <a:cxnLst/>
            <a:rect l="l" t="t" r="r" b="b"/>
            <a:pathLst>
              <a:path w="5499100" h="20320">
                <a:moveTo>
                  <a:pt x="5498606" y="19922"/>
                </a:moveTo>
                <a:lnTo>
                  <a:pt x="0" y="19922"/>
                </a:lnTo>
                <a:lnTo>
                  <a:pt x="0" y="0"/>
                </a:lnTo>
                <a:lnTo>
                  <a:pt x="5498606" y="0"/>
                </a:lnTo>
                <a:lnTo>
                  <a:pt x="5498606" y="19922"/>
                </a:lnTo>
                <a:close/>
              </a:path>
            </a:pathLst>
          </a:custGeom>
          <a:solidFill>
            <a:srgbClr val="D9DA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6845">
              <a:lnSpc>
                <a:spcPct val="116199"/>
              </a:lnSpc>
              <a:spcBef>
                <a:spcPts val="95"/>
              </a:spcBef>
            </a:pPr>
            <a:r>
              <a:rPr b="1" spc="-75" dirty="0">
                <a:latin typeface="Arial"/>
                <a:cs typeface="Arial"/>
              </a:rPr>
              <a:t>Tkinter-</a:t>
            </a:r>
            <a:r>
              <a:rPr b="1" spc="-80" dirty="0">
                <a:latin typeface="Arial"/>
                <a:cs typeface="Arial"/>
              </a:rPr>
              <a:t>based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00" dirty="0">
                <a:latin typeface="Arial"/>
                <a:cs typeface="Arial"/>
              </a:rPr>
              <a:t>GUI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105" dirty="0">
                <a:latin typeface="Arial"/>
                <a:cs typeface="Arial"/>
              </a:rPr>
              <a:t>framework</a:t>
            </a:r>
            <a:r>
              <a:rPr spc="-105" dirty="0"/>
              <a:t>:</a:t>
            </a:r>
            <a:r>
              <a:rPr spc="-125" dirty="0"/>
              <a:t> </a:t>
            </a:r>
            <a:r>
              <a:rPr spc="-85" dirty="0"/>
              <a:t>The</a:t>
            </a:r>
            <a:r>
              <a:rPr spc="-20" dirty="0"/>
              <a:t> </a:t>
            </a:r>
            <a:r>
              <a:rPr spc="-10" dirty="0"/>
              <a:t>interface</a:t>
            </a:r>
            <a:r>
              <a:rPr spc="-25" dirty="0"/>
              <a:t> </a:t>
            </a:r>
            <a:r>
              <a:rPr spc="-20" dirty="0"/>
              <a:t>is</a:t>
            </a:r>
            <a:r>
              <a:rPr spc="-15" dirty="0"/>
              <a:t> </a:t>
            </a:r>
            <a:r>
              <a:rPr dirty="0"/>
              <a:t>built</a:t>
            </a:r>
            <a:r>
              <a:rPr spc="-35" dirty="0"/>
              <a:t> </a:t>
            </a:r>
            <a:r>
              <a:rPr spc="-55" dirty="0"/>
              <a:t>using</a:t>
            </a:r>
            <a:r>
              <a:rPr spc="-60" dirty="0"/>
              <a:t> </a:t>
            </a:r>
            <a:r>
              <a:rPr spc="-50" dirty="0"/>
              <a:t>Python's</a:t>
            </a:r>
            <a:r>
              <a:rPr spc="-105" dirty="0"/>
              <a:t> </a:t>
            </a:r>
            <a:r>
              <a:rPr spc="-10" dirty="0"/>
              <a:t>Tkinter </a:t>
            </a:r>
            <a:r>
              <a:rPr spc="-25" dirty="0"/>
              <a:t>library,</a:t>
            </a:r>
            <a:r>
              <a:rPr dirty="0"/>
              <a:t> </a:t>
            </a:r>
            <a:r>
              <a:rPr spc="-25" dirty="0"/>
              <a:t>which</a:t>
            </a:r>
            <a:r>
              <a:rPr spc="-30" dirty="0"/>
              <a:t> </a:t>
            </a:r>
            <a:r>
              <a:rPr spc="-10" dirty="0"/>
              <a:t>provides</a:t>
            </a:r>
            <a:r>
              <a:rPr spc="-15" dirty="0"/>
              <a:t> </a:t>
            </a:r>
            <a:r>
              <a:rPr spc="-45" dirty="0"/>
              <a:t>a</a:t>
            </a:r>
            <a:r>
              <a:rPr spc="-25" dirty="0"/>
              <a:t> </a:t>
            </a:r>
            <a:r>
              <a:rPr dirty="0"/>
              <a:t>cross-platform</a:t>
            </a:r>
            <a:r>
              <a:rPr spc="-45" dirty="0"/>
              <a:t> </a:t>
            </a:r>
            <a:r>
              <a:rPr spc="-30" dirty="0"/>
              <a:t>graphical</a:t>
            </a:r>
            <a:r>
              <a:rPr spc="25" dirty="0"/>
              <a:t> </a:t>
            </a:r>
            <a:r>
              <a:rPr spc="-45" dirty="0"/>
              <a:t>user</a:t>
            </a:r>
            <a:r>
              <a:rPr dirty="0"/>
              <a:t> </a:t>
            </a:r>
            <a:r>
              <a:rPr spc="-10" dirty="0"/>
              <a:t>interface</a:t>
            </a:r>
            <a:r>
              <a:rPr spc="-20" dirty="0"/>
              <a:t> </a:t>
            </a:r>
            <a:r>
              <a:rPr spc="-10" dirty="0"/>
              <a:t>toolkit </a:t>
            </a:r>
            <a:r>
              <a:rPr dirty="0"/>
              <a:t>for</a:t>
            </a:r>
            <a:r>
              <a:rPr spc="5" dirty="0"/>
              <a:t> </a:t>
            </a:r>
            <a:r>
              <a:rPr spc="-25" dirty="0"/>
              <a:t>creating</a:t>
            </a:r>
            <a:r>
              <a:rPr spc="-55" dirty="0"/>
              <a:t> </a:t>
            </a:r>
            <a:r>
              <a:rPr spc="-10" dirty="0"/>
              <a:t>interactive</a:t>
            </a:r>
            <a:r>
              <a:rPr spc="-15" dirty="0"/>
              <a:t> </a:t>
            </a:r>
            <a:r>
              <a:rPr dirty="0"/>
              <a:t>desktop</a:t>
            </a:r>
            <a:r>
              <a:rPr spc="-20" dirty="0"/>
              <a:t> </a:t>
            </a:r>
            <a:r>
              <a:rPr spc="-10" dirty="0"/>
              <a:t>applications</a:t>
            </a:r>
          </a:p>
          <a:p>
            <a:pPr>
              <a:lnSpc>
                <a:spcPct val="100000"/>
              </a:lnSpc>
            </a:pPr>
            <a:endParaRPr sz="1250"/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50"/>
          </a:p>
          <a:p>
            <a:pPr marL="12700" marR="5080">
              <a:lnSpc>
                <a:spcPct val="116199"/>
              </a:lnSpc>
            </a:pPr>
            <a:r>
              <a:rPr b="1" spc="-100" dirty="0">
                <a:latin typeface="Arial"/>
                <a:cs typeface="Arial"/>
              </a:rPr>
              <a:t>Display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90" dirty="0">
                <a:latin typeface="Arial"/>
                <a:cs typeface="Arial"/>
              </a:rPr>
              <a:t>area</a:t>
            </a:r>
            <a:r>
              <a:rPr spc="-90" dirty="0"/>
              <a:t>:</a:t>
            </a:r>
            <a:r>
              <a:rPr spc="-45" dirty="0"/>
              <a:t> </a:t>
            </a:r>
            <a:r>
              <a:rPr spc="-80" dirty="0"/>
              <a:t>A</a:t>
            </a:r>
            <a:r>
              <a:rPr spc="5" dirty="0"/>
              <a:t> </a:t>
            </a:r>
            <a:r>
              <a:rPr dirty="0"/>
              <a:t>dedicated</a:t>
            </a:r>
            <a:r>
              <a:rPr spc="-35" dirty="0"/>
              <a:t> </a:t>
            </a:r>
            <a:r>
              <a:rPr dirty="0"/>
              <a:t>text</a:t>
            </a:r>
            <a:r>
              <a:rPr spc="-45" dirty="0"/>
              <a:t> </a:t>
            </a:r>
            <a:r>
              <a:rPr dirty="0"/>
              <a:t>field</a:t>
            </a:r>
            <a:r>
              <a:rPr spc="-3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spc="-35" dirty="0"/>
              <a:t>shows</a:t>
            </a:r>
            <a:r>
              <a:rPr spc="-30" dirty="0"/>
              <a:t> </a:t>
            </a:r>
            <a:r>
              <a:rPr spc="-10" dirty="0"/>
              <a:t>calculation</a:t>
            </a:r>
            <a:r>
              <a:rPr spc="-35" dirty="0"/>
              <a:t> </a:t>
            </a:r>
            <a:r>
              <a:rPr spc="-10" dirty="0"/>
              <a:t>inputs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spc="-10" dirty="0"/>
              <a:t>outputs,</a:t>
            </a:r>
            <a:r>
              <a:rPr spc="-35" dirty="0"/>
              <a:t> </a:t>
            </a:r>
            <a:r>
              <a:rPr spc="-30" dirty="0"/>
              <a:t>allowing</a:t>
            </a:r>
            <a:r>
              <a:rPr spc="-85" dirty="0"/>
              <a:t> </a:t>
            </a:r>
            <a:r>
              <a:rPr spc="-40" dirty="0"/>
              <a:t>users</a:t>
            </a:r>
            <a:r>
              <a:rPr spc="-5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35" dirty="0"/>
              <a:t>view</a:t>
            </a:r>
            <a:r>
              <a:rPr spc="-55" dirty="0"/>
              <a:t> </a:t>
            </a:r>
            <a:r>
              <a:rPr dirty="0"/>
              <a:t>their</a:t>
            </a:r>
            <a:r>
              <a:rPr spc="-30" dirty="0"/>
              <a:t> </a:t>
            </a:r>
            <a:r>
              <a:rPr dirty="0"/>
              <a:t>current</a:t>
            </a:r>
            <a:r>
              <a:rPr spc="-65" dirty="0"/>
              <a:t> </a:t>
            </a:r>
            <a:r>
              <a:rPr spc="-25" dirty="0"/>
              <a:t>expression</a:t>
            </a:r>
            <a:r>
              <a:rPr spc="-60" dirty="0"/>
              <a:t> </a:t>
            </a:r>
            <a:r>
              <a:rPr spc="-35" dirty="0"/>
              <a:t>and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computed results</a:t>
            </a:r>
            <a:r>
              <a:rPr spc="-30" dirty="0"/>
              <a:t> </a:t>
            </a:r>
            <a:r>
              <a:rPr spc="-10" dirty="0"/>
              <a:t>in</a:t>
            </a:r>
            <a:r>
              <a:rPr spc="-35" dirty="0"/>
              <a:t> </a:t>
            </a:r>
            <a:r>
              <a:rPr dirty="0"/>
              <a:t>real-</a:t>
            </a:r>
            <a:r>
              <a:rPr spc="-20" dirty="0"/>
              <a:t>time</a:t>
            </a:r>
          </a:p>
          <a:p>
            <a:pPr>
              <a:lnSpc>
                <a:spcPct val="100000"/>
              </a:lnSpc>
            </a:pPr>
            <a:endParaRPr sz="1250"/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50"/>
          </a:p>
          <a:p>
            <a:pPr marL="12700" marR="303530" algn="just">
              <a:lnSpc>
                <a:spcPct val="116199"/>
              </a:lnSpc>
            </a:pPr>
            <a:r>
              <a:rPr b="1" spc="-90" dirty="0">
                <a:latin typeface="Arial"/>
                <a:cs typeface="Arial"/>
              </a:rPr>
              <a:t>Button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spc="-100" dirty="0">
                <a:latin typeface="Arial"/>
                <a:cs typeface="Arial"/>
              </a:rPr>
              <a:t>layout</a:t>
            </a:r>
            <a:r>
              <a:rPr spc="-100" dirty="0"/>
              <a:t>:</a:t>
            </a:r>
            <a:r>
              <a:rPr spc="-80" dirty="0"/>
              <a:t> </a:t>
            </a:r>
            <a:r>
              <a:rPr spc="-75" dirty="0"/>
              <a:t>A</a:t>
            </a:r>
            <a:r>
              <a:rPr spc="-35" dirty="0"/>
              <a:t> </a:t>
            </a:r>
            <a:r>
              <a:rPr spc="-25" dirty="0"/>
              <a:t>comprehensive</a:t>
            </a:r>
            <a:r>
              <a:rPr spc="-70" dirty="0"/>
              <a:t> </a:t>
            </a:r>
            <a:r>
              <a:rPr spc="-20" dirty="0"/>
              <a:t>grid</a:t>
            </a:r>
            <a:r>
              <a:rPr spc="-70" dirty="0"/>
              <a:t> </a:t>
            </a:r>
            <a:r>
              <a:rPr spc="30" dirty="0"/>
              <a:t>of</a:t>
            </a:r>
            <a:r>
              <a:rPr spc="-90" dirty="0"/>
              <a:t> </a:t>
            </a:r>
            <a:r>
              <a:rPr spc="5" dirty="0"/>
              <a:t>buttons</a:t>
            </a:r>
            <a:r>
              <a:rPr spc="-65" dirty="0"/>
              <a:t> </a:t>
            </a:r>
            <a:r>
              <a:rPr spc="10" dirty="0"/>
              <a:t>for</a:t>
            </a:r>
            <a:r>
              <a:rPr spc="-50" dirty="0"/>
              <a:t> </a:t>
            </a:r>
            <a:r>
              <a:rPr dirty="0"/>
              <a:t>operation</a:t>
            </a:r>
            <a:r>
              <a:rPr spc="-75" dirty="0"/>
              <a:t> </a:t>
            </a:r>
            <a:r>
              <a:rPr spc="-10" dirty="0"/>
              <a:t>controls,</a:t>
            </a:r>
            <a:r>
              <a:rPr spc="-75" dirty="0"/>
              <a:t> </a:t>
            </a:r>
            <a:r>
              <a:rPr spc="-20" dirty="0"/>
              <a:t>including</a:t>
            </a:r>
            <a:r>
              <a:rPr spc="-100" dirty="0"/>
              <a:t> </a:t>
            </a:r>
            <a:r>
              <a:rPr spc="-20" dirty="0"/>
              <a:t>numeric</a:t>
            </a:r>
            <a:r>
              <a:rPr spc="-75" dirty="0"/>
              <a:t> </a:t>
            </a:r>
            <a:r>
              <a:rPr spc="5" dirty="0"/>
              <a:t>input</a:t>
            </a:r>
            <a:r>
              <a:rPr spc="-80" dirty="0"/>
              <a:t> </a:t>
            </a:r>
            <a:r>
              <a:rPr spc="5" dirty="0"/>
              <a:t>buttons</a:t>
            </a:r>
            <a:r>
              <a:rPr spc="-65" dirty="0"/>
              <a:t> </a:t>
            </a:r>
            <a:r>
              <a:rPr spc="70" dirty="0"/>
              <a:t>(0-</a:t>
            </a:r>
            <a:r>
              <a:rPr spc="-40" dirty="0"/>
              <a:t>9),</a:t>
            </a:r>
            <a:r>
              <a:rPr spc="-50" dirty="0"/>
              <a:t> </a:t>
            </a:r>
            <a:r>
              <a:rPr spc="-10" dirty="0"/>
              <a:t>basic</a:t>
            </a:r>
            <a:r>
              <a:rPr spc="-75" dirty="0"/>
              <a:t> </a:t>
            </a:r>
            <a:r>
              <a:rPr dirty="0"/>
              <a:t>arithmetic</a:t>
            </a:r>
            <a:r>
              <a:rPr spc="-75" dirty="0"/>
              <a:t> </a:t>
            </a:r>
            <a:r>
              <a:rPr spc="-15" dirty="0"/>
              <a:t>operators,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15" dirty="0"/>
              <a:t> </a:t>
            </a:r>
            <a:r>
              <a:rPr spc="-10" dirty="0"/>
              <a:t>functional</a:t>
            </a:r>
            <a:r>
              <a:rPr spc="-30" dirty="0"/>
              <a:t> </a:t>
            </a:r>
            <a:r>
              <a:rPr spc="5" dirty="0"/>
              <a:t>buttons</a:t>
            </a:r>
            <a:r>
              <a:rPr spc="-65" dirty="0"/>
              <a:t> </a:t>
            </a:r>
            <a:r>
              <a:rPr spc="10" dirty="0"/>
              <a:t>for</a:t>
            </a:r>
            <a:r>
              <a:rPr spc="-50" dirty="0"/>
              <a:t> </a:t>
            </a:r>
            <a:r>
              <a:rPr spc="-30" dirty="0"/>
              <a:t>executing</a:t>
            </a:r>
            <a:r>
              <a:rPr spc="-100" dirty="0"/>
              <a:t> </a:t>
            </a:r>
            <a:r>
              <a:rPr spc="-10" dirty="0"/>
              <a:t>calculations</a:t>
            </a:r>
            <a:r>
              <a:rPr spc="-65" dirty="0"/>
              <a:t> </a:t>
            </a:r>
            <a:r>
              <a:rPr spc="-30" dirty="0"/>
              <a:t>and</a:t>
            </a:r>
            <a:r>
              <a:rPr spc="-70" dirty="0"/>
              <a:t> </a:t>
            </a:r>
            <a:r>
              <a:rPr spc="-25" dirty="0"/>
              <a:t>clearing</a:t>
            </a:r>
            <a:r>
              <a:rPr spc="-100" dirty="0"/>
              <a:t> </a:t>
            </a:r>
            <a:r>
              <a:rPr spc="-10" dirty="0"/>
              <a:t>the</a:t>
            </a:r>
            <a:r>
              <a:rPr spc="-70" dirty="0"/>
              <a:t> </a:t>
            </a:r>
            <a:r>
              <a:rPr spc="-5" dirty="0"/>
              <a:t>display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07351" y="423672"/>
            <a:ext cx="3925823" cy="4812791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491" y="392539"/>
            <a:ext cx="303911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Challenges</a:t>
            </a:r>
            <a:r>
              <a:rPr spc="-315" dirty="0"/>
              <a:t> </a:t>
            </a:r>
            <a:r>
              <a:rPr spc="-200" dirty="0"/>
              <a:t>Faced</a:t>
            </a:r>
          </a:p>
        </p:txBody>
      </p:sp>
      <p:sp>
        <p:nvSpPr>
          <p:cNvPr id="3" name="object 3"/>
          <p:cNvSpPr/>
          <p:nvPr/>
        </p:nvSpPr>
        <p:spPr>
          <a:xfrm>
            <a:off x="479191" y="1156556"/>
            <a:ext cx="916940" cy="318770"/>
          </a:xfrm>
          <a:custGeom>
            <a:avLst/>
            <a:gdLst/>
            <a:ahLst/>
            <a:cxnLst/>
            <a:rect l="l" t="t" r="r" b="b"/>
            <a:pathLst>
              <a:path w="916940" h="318769">
                <a:moveTo>
                  <a:pt x="841976" y="318759"/>
                </a:moveTo>
                <a:lnTo>
                  <a:pt x="74457" y="318759"/>
                </a:lnTo>
                <a:lnTo>
                  <a:pt x="69275" y="318249"/>
                </a:lnTo>
                <a:lnTo>
                  <a:pt x="31065" y="302422"/>
                </a:lnTo>
                <a:lnTo>
                  <a:pt x="4063" y="264731"/>
                </a:lnTo>
                <a:lnTo>
                  <a:pt x="0" y="244302"/>
                </a:lnTo>
                <a:lnTo>
                  <a:pt x="0" y="239069"/>
                </a:lnTo>
                <a:lnTo>
                  <a:pt x="0" y="74457"/>
                </a:lnTo>
                <a:lnTo>
                  <a:pt x="16337" y="31065"/>
                </a:lnTo>
                <a:lnTo>
                  <a:pt x="54028" y="4063"/>
                </a:lnTo>
                <a:lnTo>
                  <a:pt x="74457" y="0"/>
                </a:lnTo>
                <a:lnTo>
                  <a:pt x="841976" y="0"/>
                </a:lnTo>
                <a:lnTo>
                  <a:pt x="885368" y="16337"/>
                </a:lnTo>
                <a:lnTo>
                  <a:pt x="912370" y="54028"/>
                </a:lnTo>
                <a:lnTo>
                  <a:pt x="916434" y="74457"/>
                </a:lnTo>
                <a:lnTo>
                  <a:pt x="916434" y="244302"/>
                </a:lnTo>
                <a:lnTo>
                  <a:pt x="900097" y="287693"/>
                </a:lnTo>
                <a:lnTo>
                  <a:pt x="862406" y="314696"/>
                </a:lnTo>
                <a:lnTo>
                  <a:pt x="847159" y="318249"/>
                </a:lnTo>
                <a:lnTo>
                  <a:pt x="841976" y="318759"/>
                </a:lnTo>
                <a:close/>
              </a:path>
            </a:pathLst>
          </a:custGeom>
          <a:solidFill>
            <a:srgbClr val="E1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6181" y="1215322"/>
            <a:ext cx="7721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078D5"/>
                </a:solidFill>
                <a:latin typeface="Lucida Sans Unicode"/>
                <a:cs typeface="Lucida Sans Unicode"/>
              </a:rPr>
              <a:t>TECHNICAL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16867" y="1156556"/>
            <a:ext cx="876935" cy="318770"/>
          </a:xfrm>
          <a:custGeom>
            <a:avLst/>
            <a:gdLst/>
            <a:ahLst/>
            <a:cxnLst/>
            <a:rect l="l" t="t" r="r" b="b"/>
            <a:pathLst>
              <a:path w="876934" h="318769">
                <a:moveTo>
                  <a:pt x="802131" y="318759"/>
                </a:moveTo>
                <a:lnTo>
                  <a:pt x="74457" y="318759"/>
                </a:lnTo>
                <a:lnTo>
                  <a:pt x="69275" y="318249"/>
                </a:lnTo>
                <a:lnTo>
                  <a:pt x="31065" y="302422"/>
                </a:lnTo>
                <a:lnTo>
                  <a:pt x="4063" y="264731"/>
                </a:lnTo>
                <a:lnTo>
                  <a:pt x="0" y="244302"/>
                </a:lnTo>
                <a:lnTo>
                  <a:pt x="0" y="239069"/>
                </a:lnTo>
                <a:lnTo>
                  <a:pt x="0" y="74457"/>
                </a:lnTo>
                <a:lnTo>
                  <a:pt x="16337" y="31065"/>
                </a:lnTo>
                <a:lnTo>
                  <a:pt x="54028" y="4063"/>
                </a:lnTo>
                <a:lnTo>
                  <a:pt x="74457" y="0"/>
                </a:lnTo>
                <a:lnTo>
                  <a:pt x="802131" y="0"/>
                </a:lnTo>
                <a:lnTo>
                  <a:pt x="845523" y="16337"/>
                </a:lnTo>
                <a:lnTo>
                  <a:pt x="872525" y="54028"/>
                </a:lnTo>
                <a:lnTo>
                  <a:pt x="876589" y="74457"/>
                </a:lnTo>
                <a:lnTo>
                  <a:pt x="876589" y="244302"/>
                </a:lnTo>
                <a:lnTo>
                  <a:pt x="860252" y="287693"/>
                </a:lnTo>
                <a:lnTo>
                  <a:pt x="822561" y="314696"/>
                </a:lnTo>
                <a:lnTo>
                  <a:pt x="807314" y="318249"/>
                </a:lnTo>
                <a:lnTo>
                  <a:pt x="802131" y="318759"/>
                </a:lnTo>
                <a:close/>
              </a:path>
            </a:pathLst>
          </a:custGeom>
          <a:solidFill>
            <a:srgbClr val="E1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83857" y="1215322"/>
            <a:ext cx="72644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078D5"/>
                </a:solidFill>
                <a:latin typeface="Lucida Sans Unicode"/>
                <a:cs typeface="Lucida Sans Unicode"/>
              </a:rPr>
              <a:t>INTERFACE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7034" y="1555005"/>
            <a:ext cx="5761054" cy="3455463"/>
            <a:chOff x="140207" y="1216152"/>
            <a:chExt cx="6175375" cy="3944620"/>
          </a:xfrm>
        </p:grpSpPr>
        <p:sp>
          <p:nvSpPr>
            <p:cNvPr id="8" name="object 8"/>
            <p:cNvSpPr/>
            <p:nvPr/>
          </p:nvSpPr>
          <p:spPr>
            <a:xfrm>
              <a:off x="140207" y="1216152"/>
              <a:ext cx="6175375" cy="3944620"/>
            </a:xfrm>
            <a:custGeom>
              <a:avLst/>
              <a:gdLst/>
              <a:ahLst/>
              <a:cxnLst/>
              <a:rect l="l" t="t" r="r" b="b"/>
              <a:pathLst>
                <a:path w="6175375" h="3944620">
                  <a:moveTo>
                    <a:pt x="6175247" y="3944111"/>
                  </a:moveTo>
                  <a:lnTo>
                    <a:pt x="0" y="3944111"/>
                  </a:lnTo>
                  <a:lnTo>
                    <a:pt x="0" y="0"/>
                  </a:lnTo>
                  <a:lnTo>
                    <a:pt x="6175247" y="0"/>
                  </a:lnTo>
                  <a:lnTo>
                    <a:pt x="6175247" y="338854"/>
                  </a:lnTo>
                  <a:lnTo>
                    <a:pt x="418673" y="338854"/>
                  </a:lnTo>
                  <a:lnTo>
                    <a:pt x="410823" y="339233"/>
                  </a:lnTo>
                  <a:lnTo>
                    <a:pt x="374391" y="352271"/>
                  </a:lnTo>
                  <a:lnTo>
                    <a:pt x="348404" y="380940"/>
                  </a:lnTo>
                  <a:lnTo>
                    <a:pt x="338983" y="418544"/>
                  </a:lnTo>
                  <a:lnTo>
                    <a:pt x="338983" y="3526452"/>
                  </a:lnTo>
                  <a:lnTo>
                    <a:pt x="348404" y="3564055"/>
                  </a:lnTo>
                  <a:lnTo>
                    <a:pt x="374391" y="3592724"/>
                  </a:lnTo>
                  <a:lnTo>
                    <a:pt x="410823" y="3605762"/>
                  </a:lnTo>
                  <a:lnTo>
                    <a:pt x="418673" y="3606142"/>
                  </a:lnTo>
                  <a:lnTo>
                    <a:pt x="6175247" y="3606142"/>
                  </a:lnTo>
                  <a:lnTo>
                    <a:pt x="6175247" y="3944111"/>
                  </a:lnTo>
                  <a:close/>
                </a:path>
                <a:path w="6175375" h="3944620">
                  <a:moveTo>
                    <a:pt x="6175247" y="3606142"/>
                  </a:moveTo>
                  <a:lnTo>
                    <a:pt x="5757900" y="3606142"/>
                  </a:lnTo>
                  <a:lnTo>
                    <a:pt x="5765750" y="3605762"/>
                  </a:lnTo>
                  <a:lnTo>
                    <a:pt x="5773449" y="3604625"/>
                  </a:lnTo>
                  <a:lnTo>
                    <a:pt x="5808429" y="3588084"/>
                  </a:lnTo>
                  <a:lnTo>
                    <a:pt x="5831523" y="3556947"/>
                  </a:lnTo>
                  <a:lnTo>
                    <a:pt x="5837590" y="3526452"/>
                  </a:lnTo>
                  <a:lnTo>
                    <a:pt x="5837590" y="418544"/>
                  </a:lnTo>
                  <a:lnTo>
                    <a:pt x="5828168" y="380940"/>
                  </a:lnTo>
                  <a:lnTo>
                    <a:pt x="5802181" y="352271"/>
                  </a:lnTo>
                  <a:lnTo>
                    <a:pt x="5765750" y="339233"/>
                  </a:lnTo>
                  <a:lnTo>
                    <a:pt x="5757900" y="338854"/>
                  </a:lnTo>
                  <a:lnTo>
                    <a:pt x="6175247" y="338854"/>
                  </a:lnTo>
                  <a:lnTo>
                    <a:pt x="6175247" y="3606142"/>
                  </a:lnTo>
                  <a:close/>
                </a:path>
              </a:pathLst>
            </a:custGeom>
            <a:solidFill>
              <a:srgbClr val="666666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9191" y="1555006"/>
              <a:ext cx="5499100" cy="3267710"/>
            </a:xfrm>
            <a:custGeom>
              <a:avLst/>
              <a:gdLst/>
              <a:ahLst/>
              <a:cxnLst/>
              <a:rect l="l" t="t" r="r" b="b"/>
              <a:pathLst>
                <a:path w="5499100" h="3267710">
                  <a:moveTo>
                    <a:pt x="5418916" y="3267287"/>
                  </a:moveTo>
                  <a:lnTo>
                    <a:pt x="79689" y="3267287"/>
                  </a:lnTo>
                  <a:lnTo>
                    <a:pt x="71839" y="3266908"/>
                  </a:lnTo>
                  <a:lnTo>
                    <a:pt x="35408" y="3253870"/>
                  </a:lnTo>
                  <a:lnTo>
                    <a:pt x="9420" y="3225201"/>
                  </a:lnTo>
                  <a:lnTo>
                    <a:pt x="0" y="3187597"/>
                  </a:lnTo>
                  <a:lnTo>
                    <a:pt x="0" y="79690"/>
                  </a:lnTo>
                  <a:lnTo>
                    <a:pt x="9420" y="42086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5418916" y="0"/>
                  </a:lnTo>
                  <a:lnTo>
                    <a:pt x="5456519" y="9420"/>
                  </a:lnTo>
                  <a:lnTo>
                    <a:pt x="5485187" y="35408"/>
                  </a:lnTo>
                  <a:lnTo>
                    <a:pt x="5498226" y="71839"/>
                  </a:lnTo>
                  <a:lnTo>
                    <a:pt x="5498606" y="79690"/>
                  </a:lnTo>
                  <a:lnTo>
                    <a:pt x="5498606" y="3187597"/>
                  </a:lnTo>
                  <a:lnTo>
                    <a:pt x="5489184" y="3225201"/>
                  </a:lnTo>
                  <a:lnTo>
                    <a:pt x="5463197" y="3253870"/>
                  </a:lnTo>
                  <a:lnTo>
                    <a:pt x="5426766" y="3266908"/>
                  </a:lnTo>
                  <a:lnTo>
                    <a:pt x="5418916" y="3267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7951" y="265074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60" h="20319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7951" y="1873766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8" y="544411"/>
                  </a:lnTo>
                  <a:lnTo>
                    <a:pt x="9420" y="515743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20" y="42086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3" y="9420"/>
                  </a:lnTo>
                  <a:lnTo>
                    <a:pt x="544411" y="35408"/>
                  </a:lnTo>
                  <a:lnTo>
                    <a:pt x="557450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9" y="515743"/>
                  </a:lnTo>
                  <a:lnTo>
                    <a:pt x="522421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4686" y="2070500"/>
              <a:ext cx="164338" cy="16433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82151" y="1915135"/>
            <a:ext cx="3717925" cy="434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20"/>
              </a:spcBef>
            </a:pP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Event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Handling:</a:t>
            </a:r>
            <a:r>
              <a:rPr sz="1350" spc="-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75" dirty="0">
                <a:solidFill>
                  <a:srgbClr val="1B2024"/>
                </a:solidFill>
                <a:latin typeface="Arial MT"/>
                <a:cs typeface="Arial MT"/>
              </a:rPr>
              <a:t>Managing</a:t>
            </a:r>
            <a:r>
              <a:rPr sz="1350" spc="-8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button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clicks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and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proper function</a:t>
            </a:r>
            <a:r>
              <a:rPr sz="1350" spc="-7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execution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0648" y="1555005"/>
            <a:ext cx="11304318" cy="3447732"/>
            <a:chOff x="797951" y="1475326"/>
            <a:chExt cx="11257015" cy="3685446"/>
          </a:xfrm>
        </p:grpSpPr>
        <p:sp>
          <p:nvSpPr>
            <p:cNvPr id="15" name="object 15"/>
            <p:cNvSpPr/>
            <p:nvPr/>
          </p:nvSpPr>
          <p:spPr>
            <a:xfrm>
              <a:off x="797951" y="368671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60" h="20320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7951" y="290973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8" y="544411"/>
                  </a:lnTo>
                  <a:lnTo>
                    <a:pt x="9420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20" y="42086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3" y="9420"/>
                  </a:lnTo>
                  <a:lnTo>
                    <a:pt x="544411" y="35408"/>
                  </a:lnTo>
                  <a:lnTo>
                    <a:pt x="557450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8" y="515742"/>
                  </a:lnTo>
                  <a:lnTo>
                    <a:pt x="522420" y="544411"/>
                  </a:lnTo>
                  <a:lnTo>
                    <a:pt x="485988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554" y="3097338"/>
              <a:ext cx="182622" cy="18262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7951" y="3945704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8" y="544411"/>
                  </a:lnTo>
                  <a:lnTo>
                    <a:pt x="9420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20" y="42085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3" y="9419"/>
                  </a:lnTo>
                  <a:lnTo>
                    <a:pt x="544411" y="35407"/>
                  </a:lnTo>
                  <a:lnTo>
                    <a:pt x="557450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9" y="515742"/>
                  </a:lnTo>
                  <a:lnTo>
                    <a:pt x="522421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6424" y="4130274"/>
              <a:ext cx="200878" cy="1764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76561" y="1475326"/>
              <a:ext cx="5978405" cy="3685446"/>
            </a:xfrm>
            <a:custGeom>
              <a:avLst/>
              <a:gdLst/>
              <a:ahLst/>
              <a:cxnLst/>
              <a:rect l="l" t="t" r="r" b="b"/>
              <a:pathLst>
                <a:path w="6175375" h="3944620">
                  <a:moveTo>
                    <a:pt x="6175247" y="3944111"/>
                  </a:moveTo>
                  <a:lnTo>
                    <a:pt x="0" y="3944111"/>
                  </a:lnTo>
                  <a:lnTo>
                    <a:pt x="0" y="0"/>
                  </a:lnTo>
                  <a:lnTo>
                    <a:pt x="6175247" y="0"/>
                  </a:lnTo>
                  <a:lnTo>
                    <a:pt x="6175247" y="338854"/>
                  </a:lnTo>
                  <a:lnTo>
                    <a:pt x="416965" y="338854"/>
                  </a:lnTo>
                  <a:lnTo>
                    <a:pt x="409115" y="339233"/>
                  </a:lnTo>
                  <a:lnTo>
                    <a:pt x="372683" y="352271"/>
                  </a:lnTo>
                  <a:lnTo>
                    <a:pt x="346696" y="380940"/>
                  </a:lnTo>
                  <a:lnTo>
                    <a:pt x="337276" y="418544"/>
                  </a:lnTo>
                  <a:lnTo>
                    <a:pt x="337276" y="3526452"/>
                  </a:lnTo>
                  <a:lnTo>
                    <a:pt x="346696" y="3564055"/>
                  </a:lnTo>
                  <a:lnTo>
                    <a:pt x="372683" y="3592724"/>
                  </a:lnTo>
                  <a:lnTo>
                    <a:pt x="409115" y="3605762"/>
                  </a:lnTo>
                  <a:lnTo>
                    <a:pt x="416965" y="3606142"/>
                  </a:lnTo>
                  <a:lnTo>
                    <a:pt x="6175247" y="3606142"/>
                  </a:lnTo>
                  <a:lnTo>
                    <a:pt x="6175247" y="3944111"/>
                  </a:lnTo>
                  <a:close/>
                </a:path>
                <a:path w="6175375" h="3944620">
                  <a:moveTo>
                    <a:pt x="6175247" y="3606142"/>
                  </a:moveTo>
                  <a:lnTo>
                    <a:pt x="5756192" y="3606142"/>
                  </a:lnTo>
                  <a:lnTo>
                    <a:pt x="5764042" y="3605762"/>
                  </a:lnTo>
                  <a:lnTo>
                    <a:pt x="5771741" y="3604625"/>
                  </a:lnTo>
                  <a:lnTo>
                    <a:pt x="5806721" y="3588084"/>
                  </a:lnTo>
                  <a:lnTo>
                    <a:pt x="5829815" y="3556947"/>
                  </a:lnTo>
                  <a:lnTo>
                    <a:pt x="5835882" y="3526452"/>
                  </a:lnTo>
                  <a:lnTo>
                    <a:pt x="5835882" y="418544"/>
                  </a:lnTo>
                  <a:lnTo>
                    <a:pt x="5826460" y="380940"/>
                  </a:lnTo>
                  <a:lnTo>
                    <a:pt x="5800473" y="352271"/>
                  </a:lnTo>
                  <a:lnTo>
                    <a:pt x="5764042" y="339233"/>
                  </a:lnTo>
                  <a:lnTo>
                    <a:pt x="5756192" y="338854"/>
                  </a:lnTo>
                  <a:lnTo>
                    <a:pt x="6175247" y="338854"/>
                  </a:lnTo>
                  <a:lnTo>
                    <a:pt x="6175247" y="3606142"/>
                  </a:lnTo>
                  <a:close/>
                </a:path>
              </a:pathLst>
            </a:custGeom>
            <a:solidFill>
              <a:srgbClr val="666666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16868" y="1555006"/>
              <a:ext cx="5499100" cy="3267710"/>
            </a:xfrm>
            <a:custGeom>
              <a:avLst/>
              <a:gdLst/>
              <a:ahLst/>
              <a:cxnLst/>
              <a:rect l="l" t="t" r="r" b="b"/>
              <a:pathLst>
                <a:path w="5499100" h="3267710">
                  <a:moveTo>
                    <a:pt x="5418915" y="3267287"/>
                  </a:moveTo>
                  <a:lnTo>
                    <a:pt x="79689" y="3267287"/>
                  </a:lnTo>
                  <a:lnTo>
                    <a:pt x="71839" y="3266908"/>
                  </a:lnTo>
                  <a:lnTo>
                    <a:pt x="35407" y="3253870"/>
                  </a:lnTo>
                  <a:lnTo>
                    <a:pt x="9419" y="3225201"/>
                  </a:lnTo>
                  <a:lnTo>
                    <a:pt x="0" y="3187597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5418915" y="0"/>
                  </a:lnTo>
                  <a:lnTo>
                    <a:pt x="5456518" y="9420"/>
                  </a:lnTo>
                  <a:lnTo>
                    <a:pt x="5485187" y="35408"/>
                  </a:lnTo>
                  <a:lnTo>
                    <a:pt x="5498226" y="71839"/>
                  </a:lnTo>
                  <a:lnTo>
                    <a:pt x="5498606" y="79690"/>
                  </a:lnTo>
                  <a:lnTo>
                    <a:pt x="5498606" y="3187597"/>
                  </a:lnTo>
                  <a:lnTo>
                    <a:pt x="5489184" y="3225201"/>
                  </a:lnTo>
                  <a:lnTo>
                    <a:pt x="5463196" y="3253870"/>
                  </a:lnTo>
                  <a:lnTo>
                    <a:pt x="5426765" y="3266908"/>
                  </a:lnTo>
                  <a:lnTo>
                    <a:pt x="5418915" y="3267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35628" y="265074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59" h="20319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35628" y="1873766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7" y="544411"/>
                  </a:lnTo>
                  <a:lnTo>
                    <a:pt x="9419" y="515743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2" y="9420"/>
                  </a:lnTo>
                  <a:lnTo>
                    <a:pt x="544410" y="35408"/>
                  </a:lnTo>
                  <a:lnTo>
                    <a:pt x="557449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7" y="515743"/>
                  </a:lnTo>
                  <a:lnTo>
                    <a:pt x="522420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2362" y="2070500"/>
              <a:ext cx="164360" cy="16436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82151" y="2951105"/>
            <a:ext cx="3918585" cy="434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20"/>
              </a:spcBef>
            </a:pP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Expression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Evaluation:</a:t>
            </a:r>
            <a:r>
              <a:rPr sz="1350" spc="1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Handling</a:t>
            </a:r>
            <a:r>
              <a:rPr sz="1350" spc="-7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complex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 expressions 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and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operator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precedence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2151" y="3987074"/>
            <a:ext cx="3161665" cy="434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20"/>
              </a:spcBef>
            </a:pP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Error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Handling: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75" dirty="0">
                <a:solidFill>
                  <a:srgbClr val="1B2024"/>
                </a:solidFill>
                <a:latin typeface="Arial MT"/>
                <a:cs typeface="Arial MT"/>
              </a:rPr>
              <a:t>Managing</a:t>
            </a:r>
            <a:r>
              <a:rPr sz="1350" spc="-8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invalid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inputs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and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mathematical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errors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19827" y="1915135"/>
            <a:ext cx="3750945" cy="434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20"/>
              </a:spcBef>
            </a:pPr>
            <a:r>
              <a:rPr sz="1350" spc="-110" dirty="0">
                <a:solidFill>
                  <a:srgbClr val="1B2024"/>
                </a:solidFill>
                <a:latin typeface="Arial MT"/>
                <a:cs typeface="Arial MT"/>
              </a:rPr>
              <a:t>GUI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Layout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80" dirty="0">
                <a:solidFill>
                  <a:srgbClr val="1B2024"/>
                </a:solidFill>
                <a:latin typeface="Arial MT"/>
                <a:cs typeface="Arial MT"/>
              </a:rPr>
              <a:t>Design:</a:t>
            </a:r>
            <a:r>
              <a:rPr sz="1350" spc="1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Creating</a:t>
            </a:r>
            <a:r>
              <a:rPr sz="1350" spc="-7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organized</a:t>
            </a:r>
            <a:r>
              <a:rPr sz="1350" spc="-1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and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 intuitive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button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layout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35628" y="2909735"/>
            <a:ext cx="4861560" cy="1594134"/>
            <a:chOff x="6535628" y="2909735"/>
            <a:chExt cx="4861560" cy="1594134"/>
          </a:xfrm>
        </p:grpSpPr>
        <p:sp>
          <p:nvSpPr>
            <p:cNvPr id="29" name="object 29"/>
            <p:cNvSpPr/>
            <p:nvPr/>
          </p:nvSpPr>
          <p:spPr>
            <a:xfrm>
              <a:off x="6535628" y="368671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59" h="20320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35628" y="290973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7" y="544411"/>
                  </a:lnTo>
                  <a:lnTo>
                    <a:pt x="9419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2" y="9420"/>
                  </a:lnTo>
                  <a:lnTo>
                    <a:pt x="544410" y="35408"/>
                  </a:lnTo>
                  <a:lnTo>
                    <a:pt x="557449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7" y="515742"/>
                  </a:lnTo>
                  <a:lnTo>
                    <a:pt x="522419" y="544411"/>
                  </a:lnTo>
                  <a:lnTo>
                    <a:pt x="485988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2361" y="3097338"/>
              <a:ext cx="164360" cy="18262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535628" y="3945704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7" y="544411"/>
                  </a:lnTo>
                  <a:lnTo>
                    <a:pt x="9419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19" y="42085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2" y="9419"/>
                  </a:lnTo>
                  <a:lnTo>
                    <a:pt x="544410" y="35407"/>
                  </a:lnTo>
                  <a:lnTo>
                    <a:pt x="557449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7" y="515742"/>
                  </a:lnTo>
                  <a:lnTo>
                    <a:pt x="522420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3231" y="4142439"/>
              <a:ext cx="182622" cy="16436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319827" y="2951105"/>
            <a:ext cx="3546475" cy="434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20"/>
              </a:spcBef>
            </a:pP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Widget 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Management:</a:t>
            </a:r>
            <a:r>
              <a:rPr sz="1350" spc="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Organizing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and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 positioning 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Tkinter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widgets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effectively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19827" y="3987074"/>
            <a:ext cx="3931285" cy="434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20"/>
              </a:spcBef>
            </a:pP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Display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Management: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Real-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time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display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updates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with 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user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inputs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Solutions</a:t>
            </a:r>
            <a:r>
              <a:rPr spc="-305" dirty="0"/>
              <a:t> </a:t>
            </a:r>
            <a:r>
              <a:rPr spc="-130" dirty="0"/>
              <a:t>Implemented</a:t>
            </a:r>
          </a:p>
        </p:txBody>
      </p:sp>
      <p:sp>
        <p:nvSpPr>
          <p:cNvPr id="3" name="object 3"/>
          <p:cNvSpPr/>
          <p:nvPr/>
        </p:nvSpPr>
        <p:spPr>
          <a:xfrm>
            <a:off x="479191" y="1156556"/>
            <a:ext cx="916940" cy="318770"/>
          </a:xfrm>
          <a:custGeom>
            <a:avLst/>
            <a:gdLst/>
            <a:ahLst/>
            <a:cxnLst/>
            <a:rect l="l" t="t" r="r" b="b"/>
            <a:pathLst>
              <a:path w="916940" h="318769">
                <a:moveTo>
                  <a:pt x="841976" y="318759"/>
                </a:moveTo>
                <a:lnTo>
                  <a:pt x="74457" y="318759"/>
                </a:lnTo>
                <a:lnTo>
                  <a:pt x="69275" y="318249"/>
                </a:lnTo>
                <a:lnTo>
                  <a:pt x="31065" y="302422"/>
                </a:lnTo>
                <a:lnTo>
                  <a:pt x="4063" y="264731"/>
                </a:lnTo>
                <a:lnTo>
                  <a:pt x="0" y="244302"/>
                </a:lnTo>
                <a:lnTo>
                  <a:pt x="0" y="239069"/>
                </a:lnTo>
                <a:lnTo>
                  <a:pt x="0" y="74457"/>
                </a:lnTo>
                <a:lnTo>
                  <a:pt x="16337" y="31065"/>
                </a:lnTo>
                <a:lnTo>
                  <a:pt x="54028" y="4063"/>
                </a:lnTo>
                <a:lnTo>
                  <a:pt x="74457" y="0"/>
                </a:lnTo>
                <a:lnTo>
                  <a:pt x="841976" y="0"/>
                </a:lnTo>
                <a:lnTo>
                  <a:pt x="885368" y="16337"/>
                </a:lnTo>
                <a:lnTo>
                  <a:pt x="912370" y="54028"/>
                </a:lnTo>
                <a:lnTo>
                  <a:pt x="916434" y="74457"/>
                </a:lnTo>
                <a:lnTo>
                  <a:pt x="916434" y="244302"/>
                </a:lnTo>
                <a:lnTo>
                  <a:pt x="900097" y="287693"/>
                </a:lnTo>
                <a:lnTo>
                  <a:pt x="862406" y="314696"/>
                </a:lnTo>
                <a:lnTo>
                  <a:pt x="847159" y="318249"/>
                </a:lnTo>
                <a:lnTo>
                  <a:pt x="841976" y="318759"/>
                </a:lnTo>
                <a:close/>
              </a:path>
            </a:pathLst>
          </a:custGeom>
          <a:solidFill>
            <a:srgbClr val="E1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6181" y="1215322"/>
            <a:ext cx="7721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078D5"/>
                </a:solidFill>
                <a:latin typeface="Lucida Sans Unicode"/>
                <a:cs typeface="Lucida Sans Unicode"/>
              </a:rPr>
              <a:t>TECHNICAL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16867" y="1156556"/>
            <a:ext cx="876935" cy="318770"/>
          </a:xfrm>
          <a:custGeom>
            <a:avLst/>
            <a:gdLst/>
            <a:ahLst/>
            <a:cxnLst/>
            <a:rect l="l" t="t" r="r" b="b"/>
            <a:pathLst>
              <a:path w="876934" h="318769">
                <a:moveTo>
                  <a:pt x="802131" y="318759"/>
                </a:moveTo>
                <a:lnTo>
                  <a:pt x="74457" y="318759"/>
                </a:lnTo>
                <a:lnTo>
                  <a:pt x="69275" y="318249"/>
                </a:lnTo>
                <a:lnTo>
                  <a:pt x="31065" y="302422"/>
                </a:lnTo>
                <a:lnTo>
                  <a:pt x="4063" y="264731"/>
                </a:lnTo>
                <a:lnTo>
                  <a:pt x="0" y="244302"/>
                </a:lnTo>
                <a:lnTo>
                  <a:pt x="0" y="239069"/>
                </a:lnTo>
                <a:lnTo>
                  <a:pt x="0" y="74457"/>
                </a:lnTo>
                <a:lnTo>
                  <a:pt x="16337" y="31065"/>
                </a:lnTo>
                <a:lnTo>
                  <a:pt x="54028" y="4063"/>
                </a:lnTo>
                <a:lnTo>
                  <a:pt x="74457" y="0"/>
                </a:lnTo>
                <a:lnTo>
                  <a:pt x="802131" y="0"/>
                </a:lnTo>
                <a:lnTo>
                  <a:pt x="845523" y="16337"/>
                </a:lnTo>
                <a:lnTo>
                  <a:pt x="872525" y="54028"/>
                </a:lnTo>
                <a:lnTo>
                  <a:pt x="876589" y="74457"/>
                </a:lnTo>
                <a:lnTo>
                  <a:pt x="876589" y="244302"/>
                </a:lnTo>
                <a:lnTo>
                  <a:pt x="860252" y="287693"/>
                </a:lnTo>
                <a:lnTo>
                  <a:pt x="822561" y="314696"/>
                </a:lnTo>
                <a:lnTo>
                  <a:pt x="807314" y="318249"/>
                </a:lnTo>
                <a:lnTo>
                  <a:pt x="802131" y="318759"/>
                </a:lnTo>
                <a:close/>
              </a:path>
            </a:pathLst>
          </a:custGeom>
          <a:solidFill>
            <a:srgbClr val="E1EF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83857" y="1215322"/>
            <a:ext cx="72644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078D5"/>
                </a:solidFill>
                <a:latin typeface="Lucida Sans Unicode"/>
                <a:cs typeface="Lucida Sans Unicode"/>
              </a:rPr>
              <a:t>INTERFACE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117887" y="1604930"/>
            <a:ext cx="6175375" cy="3944620"/>
            <a:chOff x="140207" y="1216152"/>
            <a:chExt cx="6175375" cy="3944620"/>
          </a:xfrm>
        </p:grpSpPr>
        <p:sp>
          <p:nvSpPr>
            <p:cNvPr id="8" name="object 8"/>
            <p:cNvSpPr/>
            <p:nvPr/>
          </p:nvSpPr>
          <p:spPr>
            <a:xfrm>
              <a:off x="140207" y="1216152"/>
              <a:ext cx="6175375" cy="3944620"/>
            </a:xfrm>
            <a:custGeom>
              <a:avLst/>
              <a:gdLst/>
              <a:ahLst/>
              <a:cxnLst/>
              <a:rect l="l" t="t" r="r" b="b"/>
              <a:pathLst>
                <a:path w="6175375" h="3944620">
                  <a:moveTo>
                    <a:pt x="6175247" y="3944111"/>
                  </a:moveTo>
                  <a:lnTo>
                    <a:pt x="0" y="3944111"/>
                  </a:lnTo>
                  <a:lnTo>
                    <a:pt x="0" y="0"/>
                  </a:lnTo>
                  <a:lnTo>
                    <a:pt x="6175247" y="0"/>
                  </a:lnTo>
                  <a:lnTo>
                    <a:pt x="6175247" y="338854"/>
                  </a:lnTo>
                  <a:lnTo>
                    <a:pt x="418673" y="338854"/>
                  </a:lnTo>
                  <a:lnTo>
                    <a:pt x="410823" y="339233"/>
                  </a:lnTo>
                  <a:lnTo>
                    <a:pt x="374391" y="352271"/>
                  </a:lnTo>
                  <a:lnTo>
                    <a:pt x="348404" y="380940"/>
                  </a:lnTo>
                  <a:lnTo>
                    <a:pt x="338983" y="418544"/>
                  </a:lnTo>
                  <a:lnTo>
                    <a:pt x="338983" y="3526452"/>
                  </a:lnTo>
                  <a:lnTo>
                    <a:pt x="348404" y="3564055"/>
                  </a:lnTo>
                  <a:lnTo>
                    <a:pt x="374391" y="3592724"/>
                  </a:lnTo>
                  <a:lnTo>
                    <a:pt x="410823" y="3605762"/>
                  </a:lnTo>
                  <a:lnTo>
                    <a:pt x="418673" y="3606142"/>
                  </a:lnTo>
                  <a:lnTo>
                    <a:pt x="6175247" y="3606142"/>
                  </a:lnTo>
                  <a:lnTo>
                    <a:pt x="6175247" y="3944111"/>
                  </a:lnTo>
                  <a:close/>
                </a:path>
                <a:path w="6175375" h="3944620">
                  <a:moveTo>
                    <a:pt x="6175247" y="3606142"/>
                  </a:moveTo>
                  <a:lnTo>
                    <a:pt x="5757900" y="3606142"/>
                  </a:lnTo>
                  <a:lnTo>
                    <a:pt x="5765750" y="3605762"/>
                  </a:lnTo>
                  <a:lnTo>
                    <a:pt x="5773449" y="3604625"/>
                  </a:lnTo>
                  <a:lnTo>
                    <a:pt x="5808429" y="3588084"/>
                  </a:lnTo>
                  <a:lnTo>
                    <a:pt x="5831523" y="3556947"/>
                  </a:lnTo>
                  <a:lnTo>
                    <a:pt x="5837590" y="3526452"/>
                  </a:lnTo>
                  <a:lnTo>
                    <a:pt x="5837590" y="418544"/>
                  </a:lnTo>
                  <a:lnTo>
                    <a:pt x="5828168" y="380940"/>
                  </a:lnTo>
                  <a:lnTo>
                    <a:pt x="5802181" y="352271"/>
                  </a:lnTo>
                  <a:lnTo>
                    <a:pt x="5765750" y="339233"/>
                  </a:lnTo>
                  <a:lnTo>
                    <a:pt x="5757900" y="338854"/>
                  </a:lnTo>
                  <a:lnTo>
                    <a:pt x="6175247" y="338854"/>
                  </a:lnTo>
                  <a:lnTo>
                    <a:pt x="6175247" y="3606142"/>
                  </a:lnTo>
                  <a:close/>
                </a:path>
              </a:pathLst>
            </a:custGeom>
            <a:solidFill>
              <a:srgbClr val="666666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9191" y="1555006"/>
              <a:ext cx="5499100" cy="3267710"/>
            </a:xfrm>
            <a:custGeom>
              <a:avLst/>
              <a:gdLst/>
              <a:ahLst/>
              <a:cxnLst/>
              <a:rect l="l" t="t" r="r" b="b"/>
              <a:pathLst>
                <a:path w="5499100" h="3267710">
                  <a:moveTo>
                    <a:pt x="5418916" y="3267287"/>
                  </a:moveTo>
                  <a:lnTo>
                    <a:pt x="79689" y="3267287"/>
                  </a:lnTo>
                  <a:lnTo>
                    <a:pt x="71839" y="3266908"/>
                  </a:lnTo>
                  <a:lnTo>
                    <a:pt x="35408" y="3253870"/>
                  </a:lnTo>
                  <a:lnTo>
                    <a:pt x="9420" y="3225201"/>
                  </a:lnTo>
                  <a:lnTo>
                    <a:pt x="0" y="3187597"/>
                  </a:lnTo>
                  <a:lnTo>
                    <a:pt x="0" y="79690"/>
                  </a:lnTo>
                  <a:lnTo>
                    <a:pt x="9420" y="42086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5418916" y="0"/>
                  </a:lnTo>
                  <a:lnTo>
                    <a:pt x="5456519" y="9420"/>
                  </a:lnTo>
                  <a:lnTo>
                    <a:pt x="5485187" y="35408"/>
                  </a:lnTo>
                  <a:lnTo>
                    <a:pt x="5498226" y="71839"/>
                  </a:lnTo>
                  <a:lnTo>
                    <a:pt x="5498606" y="79690"/>
                  </a:lnTo>
                  <a:lnTo>
                    <a:pt x="5498606" y="3187597"/>
                  </a:lnTo>
                  <a:lnTo>
                    <a:pt x="5489184" y="3225201"/>
                  </a:lnTo>
                  <a:lnTo>
                    <a:pt x="5463197" y="3253870"/>
                  </a:lnTo>
                  <a:lnTo>
                    <a:pt x="5426766" y="3266908"/>
                  </a:lnTo>
                  <a:lnTo>
                    <a:pt x="5418916" y="3267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7951" y="265074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60" h="20319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73135" y="1861554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8" y="544411"/>
                  </a:lnTo>
                  <a:lnTo>
                    <a:pt x="9420" y="515743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20" y="42086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3" y="9420"/>
                  </a:lnTo>
                  <a:lnTo>
                    <a:pt x="544411" y="35408"/>
                  </a:lnTo>
                  <a:lnTo>
                    <a:pt x="557450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9" y="515743"/>
                  </a:lnTo>
                  <a:lnTo>
                    <a:pt x="522421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04" y="2058456"/>
              <a:ext cx="164360" cy="16436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28506" y="2366250"/>
            <a:ext cx="3367404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Lambda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Functions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for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efficient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event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handling</a:t>
            </a:r>
            <a:endParaRPr sz="1350" dirty="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85329" y="1562375"/>
            <a:ext cx="11046421" cy="4758691"/>
            <a:chOff x="797951" y="1301104"/>
            <a:chExt cx="11046421" cy="4758691"/>
          </a:xfrm>
        </p:grpSpPr>
        <p:sp>
          <p:nvSpPr>
            <p:cNvPr id="15" name="object 15"/>
            <p:cNvSpPr/>
            <p:nvPr/>
          </p:nvSpPr>
          <p:spPr>
            <a:xfrm>
              <a:off x="797951" y="368671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60" h="20320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7951" y="290973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8" y="544411"/>
                  </a:lnTo>
                  <a:lnTo>
                    <a:pt x="9420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20" y="42086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3" y="9420"/>
                  </a:lnTo>
                  <a:lnTo>
                    <a:pt x="544411" y="35408"/>
                  </a:lnTo>
                  <a:lnTo>
                    <a:pt x="557450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8" y="515742"/>
                  </a:lnTo>
                  <a:lnTo>
                    <a:pt x="522420" y="544411"/>
                  </a:lnTo>
                  <a:lnTo>
                    <a:pt x="485988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554" y="3097338"/>
              <a:ext cx="182622" cy="18262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7951" y="3945704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8" y="544411"/>
                  </a:lnTo>
                  <a:lnTo>
                    <a:pt x="9420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20" y="42085"/>
                  </a:lnTo>
                  <a:lnTo>
                    <a:pt x="35408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3" y="9419"/>
                  </a:lnTo>
                  <a:lnTo>
                    <a:pt x="544411" y="35407"/>
                  </a:lnTo>
                  <a:lnTo>
                    <a:pt x="557450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9" y="515742"/>
                  </a:lnTo>
                  <a:lnTo>
                    <a:pt x="522421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4686" y="4142439"/>
              <a:ext cx="164360" cy="1643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07983" y="1301104"/>
              <a:ext cx="5836389" cy="4758691"/>
            </a:xfrm>
            <a:custGeom>
              <a:avLst/>
              <a:gdLst/>
              <a:ahLst/>
              <a:cxnLst/>
              <a:rect l="l" t="t" r="r" b="b"/>
              <a:pathLst>
                <a:path w="6175375" h="4980940">
                  <a:moveTo>
                    <a:pt x="6175247" y="4980431"/>
                  </a:moveTo>
                  <a:lnTo>
                    <a:pt x="0" y="4980431"/>
                  </a:lnTo>
                  <a:lnTo>
                    <a:pt x="0" y="0"/>
                  </a:lnTo>
                  <a:lnTo>
                    <a:pt x="6175247" y="0"/>
                  </a:lnTo>
                  <a:lnTo>
                    <a:pt x="6175247" y="338854"/>
                  </a:lnTo>
                  <a:lnTo>
                    <a:pt x="416965" y="338854"/>
                  </a:lnTo>
                  <a:lnTo>
                    <a:pt x="409115" y="339233"/>
                  </a:lnTo>
                  <a:lnTo>
                    <a:pt x="372683" y="352271"/>
                  </a:lnTo>
                  <a:lnTo>
                    <a:pt x="346696" y="380940"/>
                  </a:lnTo>
                  <a:lnTo>
                    <a:pt x="337276" y="418544"/>
                  </a:lnTo>
                  <a:lnTo>
                    <a:pt x="337276" y="4562421"/>
                  </a:lnTo>
                  <a:lnTo>
                    <a:pt x="346696" y="4600024"/>
                  </a:lnTo>
                  <a:lnTo>
                    <a:pt x="372683" y="4628693"/>
                  </a:lnTo>
                  <a:lnTo>
                    <a:pt x="409115" y="4641732"/>
                  </a:lnTo>
                  <a:lnTo>
                    <a:pt x="416965" y="4642111"/>
                  </a:lnTo>
                  <a:lnTo>
                    <a:pt x="6175247" y="4642111"/>
                  </a:lnTo>
                  <a:lnTo>
                    <a:pt x="6175247" y="4980431"/>
                  </a:lnTo>
                  <a:close/>
                </a:path>
                <a:path w="6175375" h="4980940">
                  <a:moveTo>
                    <a:pt x="6175247" y="4642111"/>
                  </a:moveTo>
                  <a:lnTo>
                    <a:pt x="5756192" y="4642111"/>
                  </a:lnTo>
                  <a:lnTo>
                    <a:pt x="5764042" y="4641732"/>
                  </a:lnTo>
                  <a:lnTo>
                    <a:pt x="5771741" y="4640594"/>
                  </a:lnTo>
                  <a:lnTo>
                    <a:pt x="5806721" y="4624053"/>
                  </a:lnTo>
                  <a:lnTo>
                    <a:pt x="5829815" y="4592917"/>
                  </a:lnTo>
                  <a:lnTo>
                    <a:pt x="5835882" y="4562421"/>
                  </a:lnTo>
                  <a:lnTo>
                    <a:pt x="5835882" y="418544"/>
                  </a:lnTo>
                  <a:lnTo>
                    <a:pt x="5826460" y="380940"/>
                  </a:lnTo>
                  <a:lnTo>
                    <a:pt x="5800473" y="352271"/>
                  </a:lnTo>
                  <a:lnTo>
                    <a:pt x="5764042" y="339233"/>
                  </a:lnTo>
                  <a:lnTo>
                    <a:pt x="5756192" y="338854"/>
                  </a:lnTo>
                  <a:lnTo>
                    <a:pt x="6175247" y="338854"/>
                  </a:lnTo>
                  <a:lnTo>
                    <a:pt x="6175247" y="4642111"/>
                  </a:lnTo>
                  <a:close/>
                </a:path>
              </a:pathLst>
            </a:custGeom>
            <a:solidFill>
              <a:srgbClr val="666666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97051" y="1532825"/>
              <a:ext cx="5180340" cy="4195972"/>
            </a:xfrm>
            <a:custGeom>
              <a:avLst/>
              <a:gdLst/>
              <a:ahLst/>
              <a:cxnLst/>
              <a:rect l="l" t="t" r="r" b="b"/>
              <a:pathLst>
                <a:path w="5499100" h="4303395">
                  <a:moveTo>
                    <a:pt x="5418915" y="4303257"/>
                  </a:moveTo>
                  <a:lnTo>
                    <a:pt x="79689" y="4303257"/>
                  </a:lnTo>
                  <a:lnTo>
                    <a:pt x="71839" y="4302877"/>
                  </a:lnTo>
                  <a:lnTo>
                    <a:pt x="35407" y="4289838"/>
                  </a:lnTo>
                  <a:lnTo>
                    <a:pt x="9419" y="4261170"/>
                  </a:lnTo>
                  <a:lnTo>
                    <a:pt x="0" y="4223567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5418915" y="0"/>
                  </a:lnTo>
                  <a:lnTo>
                    <a:pt x="5456518" y="9420"/>
                  </a:lnTo>
                  <a:lnTo>
                    <a:pt x="5485187" y="35408"/>
                  </a:lnTo>
                  <a:lnTo>
                    <a:pt x="5498226" y="71839"/>
                  </a:lnTo>
                  <a:lnTo>
                    <a:pt x="5498606" y="79690"/>
                  </a:lnTo>
                  <a:lnTo>
                    <a:pt x="5498606" y="4223567"/>
                  </a:lnTo>
                  <a:lnTo>
                    <a:pt x="5489184" y="4261170"/>
                  </a:lnTo>
                  <a:lnTo>
                    <a:pt x="5463196" y="4289838"/>
                  </a:lnTo>
                  <a:lnTo>
                    <a:pt x="5426765" y="4302877"/>
                  </a:lnTo>
                  <a:lnTo>
                    <a:pt x="5418915" y="43032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35628" y="265074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59" h="20319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48043" y="1871487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7" y="544411"/>
                  </a:lnTo>
                  <a:lnTo>
                    <a:pt x="9419" y="515743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2" y="9420"/>
                  </a:lnTo>
                  <a:lnTo>
                    <a:pt x="544410" y="35408"/>
                  </a:lnTo>
                  <a:lnTo>
                    <a:pt x="557449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7" y="515743"/>
                  </a:lnTo>
                  <a:lnTo>
                    <a:pt x="522420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4054" y="2073362"/>
              <a:ext cx="164360" cy="16436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82151" y="3050717"/>
            <a:ext cx="405066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Eval()</a:t>
            </a:r>
            <a:r>
              <a:rPr sz="1350" spc="-8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Function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for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mathematical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expression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evaluation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2151" y="4086686"/>
            <a:ext cx="346011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Math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Module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integration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for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scientific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functions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19827" y="2014747"/>
            <a:ext cx="387985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Grid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Layout</a:t>
            </a: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75" dirty="0">
                <a:solidFill>
                  <a:srgbClr val="1B2024"/>
                </a:solidFill>
                <a:latin typeface="Arial MT"/>
                <a:cs typeface="Arial MT"/>
              </a:rPr>
              <a:t>Manager</a:t>
            </a:r>
            <a:r>
              <a:rPr sz="1350" spc="-1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for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organized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button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placement</a:t>
            </a:r>
            <a:endParaRPr sz="1350" dirty="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66215" y="2909735"/>
            <a:ext cx="10430973" cy="3683087"/>
            <a:chOff x="966215" y="2909735"/>
            <a:chExt cx="10430973" cy="3683087"/>
          </a:xfrm>
        </p:grpSpPr>
        <p:sp>
          <p:nvSpPr>
            <p:cNvPr id="29" name="object 29"/>
            <p:cNvSpPr/>
            <p:nvPr/>
          </p:nvSpPr>
          <p:spPr>
            <a:xfrm>
              <a:off x="6535628" y="3686712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59" h="20320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35628" y="290973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7" y="544411"/>
                  </a:lnTo>
                  <a:lnTo>
                    <a:pt x="9419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2" y="9420"/>
                  </a:lnTo>
                  <a:lnTo>
                    <a:pt x="544410" y="35408"/>
                  </a:lnTo>
                  <a:lnTo>
                    <a:pt x="557449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7" y="515742"/>
                  </a:lnTo>
                  <a:lnTo>
                    <a:pt x="522419" y="544411"/>
                  </a:lnTo>
                  <a:lnTo>
                    <a:pt x="485988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2361" y="3106176"/>
              <a:ext cx="164360" cy="16494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535628" y="4722681"/>
              <a:ext cx="4861560" cy="20320"/>
            </a:xfrm>
            <a:custGeom>
              <a:avLst/>
              <a:gdLst/>
              <a:ahLst/>
              <a:cxnLst/>
              <a:rect l="l" t="t" r="r" b="b"/>
              <a:pathLst>
                <a:path w="4861559" h="20320">
                  <a:moveTo>
                    <a:pt x="4861087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4861087" y="0"/>
                  </a:lnTo>
                  <a:lnTo>
                    <a:pt x="4861087" y="19922"/>
                  </a:lnTo>
                  <a:close/>
                </a:path>
              </a:pathLst>
            </a:custGeom>
            <a:solidFill>
              <a:srgbClr val="DE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35628" y="3945704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7" y="544411"/>
                  </a:lnTo>
                  <a:lnTo>
                    <a:pt x="9419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19" y="42085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2" y="9419"/>
                  </a:lnTo>
                  <a:lnTo>
                    <a:pt x="544410" y="35407"/>
                  </a:lnTo>
                  <a:lnTo>
                    <a:pt x="557449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7" y="515742"/>
                  </a:lnTo>
                  <a:lnTo>
                    <a:pt x="522420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3156" y="4133308"/>
              <a:ext cx="182697" cy="18262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35628" y="4981674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478139" y="557829"/>
                  </a:moveTo>
                  <a:lnTo>
                    <a:pt x="79689" y="557829"/>
                  </a:lnTo>
                  <a:lnTo>
                    <a:pt x="71839" y="557450"/>
                  </a:lnTo>
                  <a:lnTo>
                    <a:pt x="35407" y="544411"/>
                  </a:lnTo>
                  <a:lnTo>
                    <a:pt x="9419" y="515742"/>
                  </a:lnTo>
                  <a:lnTo>
                    <a:pt x="0" y="478139"/>
                  </a:lnTo>
                  <a:lnTo>
                    <a:pt x="0" y="79690"/>
                  </a:lnTo>
                  <a:lnTo>
                    <a:pt x="9419" y="42085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89" y="0"/>
                  </a:lnTo>
                  <a:lnTo>
                    <a:pt x="478139" y="0"/>
                  </a:lnTo>
                  <a:lnTo>
                    <a:pt x="515742" y="9419"/>
                  </a:lnTo>
                  <a:lnTo>
                    <a:pt x="544410" y="35407"/>
                  </a:lnTo>
                  <a:lnTo>
                    <a:pt x="557449" y="71839"/>
                  </a:lnTo>
                  <a:lnTo>
                    <a:pt x="557829" y="79690"/>
                  </a:lnTo>
                  <a:lnTo>
                    <a:pt x="557829" y="478139"/>
                  </a:lnTo>
                  <a:lnTo>
                    <a:pt x="548407" y="515742"/>
                  </a:lnTo>
                  <a:lnTo>
                    <a:pt x="522420" y="544411"/>
                  </a:lnTo>
                  <a:lnTo>
                    <a:pt x="485989" y="557450"/>
                  </a:lnTo>
                  <a:lnTo>
                    <a:pt x="478139" y="557829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23231" y="5169277"/>
              <a:ext cx="182622" cy="18262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6215" y="6476999"/>
              <a:ext cx="161543" cy="11582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319827" y="3050717"/>
            <a:ext cx="295211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StringVar()</a:t>
            </a:r>
            <a:r>
              <a:rPr sz="1350" spc="-8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for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dynamic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display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updates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19827" y="4086686"/>
            <a:ext cx="266001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Try-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Except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Blocks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for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error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handling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19827" y="5122655"/>
            <a:ext cx="3659504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Modular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70" dirty="0">
                <a:solidFill>
                  <a:srgbClr val="1B2024"/>
                </a:solidFill>
                <a:latin typeface="Arial MT"/>
                <a:cs typeface="Arial MT"/>
              </a:rPr>
              <a:t>Design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B2024"/>
                </a:solidFill>
                <a:latin typeface="Arial MT"/>
                <a:cs typeface="Arial MT"/>
              </a:rPr>
              <a:t>with</a:t>
            </a: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separate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operation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functions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491" y="404732"/>
            <a:ext cx="274447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275" dirty="0">
                <a:latin typeface="Lucida Sans Unicode"/>
                <a:cs typeface="Lucida Sans Unicode"/>
              </a:rPr>
              <a:t>Resources</a:t>
            </a:r>
            <a:r>
              <a:rPr sz="3300" spc="-484" dirty="0">
                <a:latin typeface="Lucida Sans Unicode"/>
                <a:cs typeface="Lucida Sans Unicode"/>
              </a:rPr>
              <a:t> </a:t>
            </a:r>
            <a:r>
              <a:rPr sz="3300" spc="-200" dirty="0">
                <a:latin typeface="Lucida Sans Unicode"/>
                <a:cs typeface="Lucida Sans Unicode"/>
              </a:rPr>
              <a:t>Used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6491" y="1215322"/>
            <a:ext cx="115951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078D5"/>
                </a:solidFill>
                <a:latin typeface="Lucida Sans Unicode"/>
                <a:cs typeface="Lucida Sans Unicode"/>
              </a:rPr>
              <a:t>DOCUMENTATION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15433" y="1156556"/>
            <a:ext cx="7690484" cy="2101850"/>
            <a:chOff x="4015433" y="1156556"/>
            <a:chExt cx="7690484" cy="2101850"/>
          </a:xfrm>
        </p:grpSpPr>
        <p:sp>
          <p:nvSpPr>
            <p:cNvPr id="5" name="object 5"/>
            <p:cNvSpPr/>
            <p:nvPr/>
          </p:nvSpPr>
          <p:spPr>
            <a:xfrm>
              <a:off x="4015433" y="1156556"/>
              <a:ext cx="3735704" cy="20320"/>
            </a:xfrm>
            <a:custGeom>
              <a:avLst/>
              <a:gdLst/>
              <a:ahLst/>
              <a:cxnLst/>
              <a:rect l="l" t="t" r="r" b="b"/>
              <a:pathLst>
                <a:path w="3735704" h="20319">
                  <a:moveTo>
                    <a:pt x="3735466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3735466" y="0"/>
                  </a:lnTo>
                  <a:lnTo>
                    <a:pt x="3735466" y="19922"/>
                  </a:lnTo>
                  <a:close/>
                </a:path>
              </a:pathLst>
            </a:custGeom>
            <a:solidFill>
              <a:srgbClr val="D9D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15433" y="1564967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5" h="438785">
                  <a:moveTo>
                    <a:pt x="358604" y="438294"/>
                  </a:moveTo>
                  <a:lnTo>
                    <a:pt x="79690" y="438294"/>
                  </a:lnTo>
                  <a:lnTo>
                    <a:pt x="71839" y="437915"/>
                  </a:lnTo>
                  <a:lnTo>
                    <a:pt x="35407" y="424876"/>
                  </a:lnTo>
                  <a:lnTo>
                    <a:pt x="9419" y="396208"/>
                  </a:lnTo>
                  <a:lnTo>
                    <a:pt x="0" y="358604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90" y="0"/>
                  </a:lnTo>
                  <a:lnTo>
                    <a:pt x="358604" y="0"/>
                  </a:lnTo>
                  <a:lnTo>
                    <a:pt x="396207" y="9420"/>
                  </a:lnTo>
                  <a:lnTo>
                    <a:pt x="424876" y="35408"/>
                  </a:lnTo>
                  <a:lnTo>
                    <a:pt x="437915" y="71839"/>
                  </a:lnTo>
                  <a:lnTo>
                    <a:pt x="438294" y="79690"/>
                  </a:lnTo>
                  <a:lnTo>
                    <a:pt x="438294" y="358604"/>
                  </a:lnTo>
                  <a:lnTo>
                    <a:pt x="428873" y="396208"/>
                  </a:lnTo>
                  <a:lnTo>
                    <a:pt x="402886" y="424876"/>
                  </a:lnTo>
                  <a:lnTo>
                    <a:pt x="366454" y="437915"/>
                  </a:lnTo>
                  <a:lnTo>
                    <a:pt x="358604" y="438294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9871" y="1722810"/>
              <a:ext cx="149418" cy="1210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80008" y="1156556"/>
              <a:ext cx="3725545" cy="20320"/>
            </a:xfrm>
            <a:custGeom>
              <a:avLst/>
              <a:gdLst/>
              <a:ahLst/>
              <a:cxnLst/>
              <a:rect l="l" t="t" r="r" b="b"/>
              <a:pathLst>
                <a:path w="3725545" h="20319">
                  <a:moveTo>
                    <a:pt x="3725505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3725505" y="0"/>
                  </a:lnTo>
                  <a:lnTo>
                    <a:pt x="3725505" y="19922"/>
                  </a:lnTo>
                  <a:close/>
                </a:path>
              </a:pathLst>
            </a:custGeom>
            <a:solidFill>
              <a:srgbClr val="D9D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80007" y="1564967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358605" y="438294"/>
                  </a:moveTo>
                  <a:lnTo>
                    <a:pt x="79690" y="438294"/>
                  </a:lnTo>
                  <a:lnTo>
                    <a:pt x="71839" y="437915"/>
                  </a:lnTo>
                  <a:lnTo>
                    <a:pt x="35407" y="424876"/>
                  </a:lnTo>
                  <a:lnTo>
                    <a:pt x="9419" y="396208"/>
                  </a:lnTo>
                  <a:lnTo>
                    <a:pt x="0" y="358604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90" y="0"/>
                  </a:lnTo>
                  <a:lnTo>
                    <a:pt x="358605" y="0"/>
                  </a:lnTo>
                  <a:lnTo>
                    <a:pt x="396207" y="9420"/>
                  </a:lnTo>
                  <a:lnTo>
                    <a:pt x="424876" y="35408"/>
                  </a:lnTo>
                  <a:lnTo>
                    <a:pt x="437915" y="71839"/>
                  </a:lnTo>
                  <a:lnTo>
                    <a:pt x="438295" y="79690"/>
                  </a:lnTo>
                  <a:lnTo>
                    <a:pt x="438295" y="358604"/>
                  </a:lnTo>
                  <a:lnTo>
                    <a:pt x="428873" y="396208"/>
                  </a:lnTo>
                  <a:lnTo>
                    <a:pt x="402885" y="424876"/>
                  </a:lnTo>
                  <a:lnTo>
                    <a:pt x="366455" y="437915"/>
                  </a:lnTo>
                  <a:lnTo>
                    <a:pt x="358605" y="438294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4445" y="1709405"/>
              <a:ext cx="149418" cy="14941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15433" y="2411672"/>
              <a:ext cx="3735704" cy="20320"/>
            </a:xfrm>
            <a:custGeom>
              <a:avLst/>
              <a:gdLst/>
              <a:ahLst/>
              <a:cxnLst/>
              <a:rect l="l" t="t" r="r" b="b"/>
              <a:pathLst>
                <a:path w="3735704" h="20319">
                  <a:moveTo>
                    <a:pt x="3735466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3735466" y="0"/>
                  </a:lnTo>
                  <a:lnTo>
                    <a:pt x="3735466" y="19922"/>
                  </a:lnTo>
                  <a:close/>
                </a:path>
              </a:pathLst>
            </a:custGeom>
            <a:solidFill>
              <a:srgbClr val="D9D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15433" y="2820084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5" h="438785">
                  <a:moveTo>
                    <a:pt x="358604" y="438294"/>
                  </a:moveTo>
                  <a:lnTo>
                    <a:pt x="79690" y="438294"/>
                  </a:lnTo>
                  <a:lnTo>
                    <a:pt x="71839" y="437915"/>
                  </a:lnTo>
                  <a:lnTo>
                    <a:pt x="35407" y="424876"/>
                  </a:lnTo>
                  <a:lnTo>
                    <a:pt x="9419" y="396207"/>
                  </a:lnTo>
                  <a:lnTo>
                    <a:pt x="0" y="358604"/>
                  </a:lnTo>
                  <a:lnTo>
                    <a:pt x="0" y="79690"/>
                  </a:lnTo>
                  <a:lnTo>
                    <a:pt x="9419" y="42086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90" y="0"/>
                  </a:lnTo>
                  <a:lnTo>
                    <a:pt x="358604" y="0"/>
                  </a:lnTo>
                  <a:lnTo>
                    <a:pt x="396208" y="9420"/>
                  </a:lnTo>
                  <a:lnTo>
                    <a:pt x="424876" y="35407"/>
                  </a:lnTo>
                  <a:lnTo>
                    <a:pt x="437915" y="71839"/>
                  </a:lnTo>
                  <a:lnTo>
                    <a:pt x="438294" y="79690"/>
                  </a:lnTo>
                  <a:lnTo>
                    <a:pt x="438294" y="358604"/>
                  </a:lnTo>
                  <a:lnTo>
                    <a:pt x="428873" y="396207"/>
                  </a:lnTo>
                  <a:lnTo>
                    <a:pt x="402886" y="424876"/>
                  </a:lnTo>
                  <a:lnTo>
                    <a:pt x="366454" y="437915"/>
                  </a:lnTo>
                  <a:lnTo>
                    <a:pt x="358604" y="438294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4813" y="2964522"/>
              <a:ext cx="119534" cy="14941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560563" y="1239970"/>
            <a:ext cx="162750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Python</a:t>
            </a:r>
            <a:r>
              <a:rPr sz="1350" spc="-6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&amp;</a:t>
            </a:r>
            <a:r>
              <a:rPr sz="1350" spc="-15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Tkinter</a:t>
            </a: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1B2024"/>
                </a:solidFill>
                <a:latin typeface="Arial MT"/>
                <a:cs typeface="Arial MT"/>
              </a:rPr>
              <a:t>Docs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0563" y="1527398"/>
            <a:ext cx="3115310" cy="742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95"/>
              </a:spcBef>
            </a:pP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Official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Python</a:t>
            </a:r>
            <a:r>
              <a:rPr sz="1350" spc="2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documentation</a:t>
            </a:r>
            <a:r>
              <a:rPr sz="1350" spc="2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65" dirty="0">
                <a:solidFill>
                  <a:srgbClr val="60646B"/>
                </a:solidFill>
                <a:latin typeface="Lucida Sans Unicode"/>
                <a:cs typeface="Lucida Sans Unicode"/>
              </a:rPr>
              <a:t>for</a:t>
            </a:r>
            <a:r>
              <a:rPr sz="1350" spc="5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60646B"/>
                </a:solidFill>
                <a:latin typeface="Lucida Sans Unicode"/>
                <a:cs typeface="Lucida Sans Unicode"/>
              </a:rPr>
              <a:t>Tkinter </a:t>
            </a:r>
            <a:r>
              <a:rPr sz="1350" spc="-110" dirty="0">
                <a:solidFill>
                  <a:srgbClr val="60646B"/>
                </a:solidFill>
                <a:latin typeface="Lucida Sans Unicode"/>
                <a:cs typeface="Lucida Sans Unicode"/>
              </a:rPr>
              <a:t>library,</a:t>
            </a:r>
            <a:r>
              <a:rPr sz="1350" spc="1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25" dirty="0">
                <a:solidFill>
                  <a:srgbClr val="60646B"/>
                </a:solidFill>
                <a:latin typeface="Lucida Sans Unicode"/>
                <a:cs typeface="Lucida Sans Unicode"/>
              </a:rPr>
              <a:t>widgets,</a:t>
            </a:r>
            <a:r>
              <a:rPr sz="1350" spc="3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35" dirty="0">
                <a:solidFill>
                  <a:srgbClr val="60646B"/>
                </a:solidFill>
                <a:latin typeface="Lucida Sans Unicode"/>
                <a:cs typeface="Lucida Sans Unicode"/>
              </a:rPr>
              <a:t>and</a:t>
            </a:r>
            <a:r>
              <a:rPr sz="1350" spc="3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10" dirty="0">
                <a:solidFill>
                  <a:srgbClr val="60646B"/>
                </a:solidFill>
                <a:latin typeface="Lucida Sans Unicode"/>
                <a:cs typeface="Lucida Sans Unicode"/>
              </a:rPr>
              <a:t>GUI</a:t>
            </a:r>
            <a:r>
              <a:rPr sz="1350" spc="4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components</a:t>
            </a:r>
            <a:r>
              <a:rPr sz="1350" spc="1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60646B"/>
                </a:solidFill>
                <a:latin typeface="Lucida Sans Unicode"/>
                <a:cs typeface="Lucida Sans Unicode"/>
              </a:rPr>
              <a:t>with 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detailed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methods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25137" y="1359505"/>
            <a:ext cx="151955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Python</a:t>
            </a:r>
            <a:r>
              <a:rPr sz="1350" spc="-5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Math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Module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25137" y="1646932"/>
            <a:ext cx="2934335" cy="50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Reference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documentation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for</a:t>
            </a:r>
            <a:r>
              <a:rPr sz="1350" spc="-4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scientific 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mathematical</a:t>
            </a:r>
            <a:r>
              <a:rPr sz="1350" spc="-4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functions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and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operations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60563" y="2386420"/>
            <a:ext cx="2776855" cy="113919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Tkinter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Guide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16199"/>
              </a:lnSpc>
              <a:spcBef>
                <a:spcPts val="630"/>
              </a:spcBef>
            </a:pP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Comprehensive</a:t>
            </a:r>
            <a:r>
              <a:rPr sz="1350" spc="-6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20" dirty="0">
                <a:solidFill>
                  <a:srgbClr val="60646B"/>
                </a:solidFill>
                <a:latin typeface="Lucida Sans Unicode"/>
                <a:cs typeface="Lucida Sans Unicode"/>
              </a:rPr>
              <a:t>guide</a:t>
            </a:r>
            <a:r>
              <a:rPr sz="1350" spc="-6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covering </a:t>
            </a:r>
            <a:r>
              <a:rPr sz="1350" spc="-25" dirty="0">
                <a:solidFill>
                  <a:srgbClr val="60646B"/>
                </a:solidFill>
                <a:latin typeface="Lucida Sans Unicode"/>
                <a:cs typeface="Lucida Sans Unicode"/>
              </a:rPr>
              <a:t>GUI 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component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implementation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and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60646B"/>
                </a:solidFill>
                <a:latin typeface="Lucida Sans Unicode"/>
                <a:cs typeface="Lucida Sans Unicode"/>
              </a:rPr>
              <a:t>best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practices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6491" y="3805246"/>
            <a:ext cx="83058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078D5"/>
                </a:solidFill>
                <a:latin typeface="Lucida Sans Unicode"/>
                <a:cs typeface="Lucida Sans Unicode"/>
              </a:rPr>
              <a:t>COMMUNITY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6215" y="3746479"/>
            <a:ext cx="10739338" cy="2846343"/>
            <a:chOff x="966215" y="3746479"/>
            <a:chExt cx="10739338" cy="2846343"/>
          </a:xfrm>
        </p:grpSpPr>
        <p:sp>
          <p:nvSpPr>
            <p:cNvPr id="21" name="object 21"/>
            <p:cNvSpPr/>
            <p:nvPr/>
          </p:nvSpPr>
          <p:spPr>
            <a:xfrm>
              <a:off x="4015433" y="3746479"/>
              <a:ext cx="3735704" cy="20320"/>
            </a:xfrm>
            <a:custGeom>
              <a:avLst/>
              <a:gdLst/>
              <a:ahLst/>
              <a:cxnLst/>
              <a:rect l="l" t="t" r="r" b="b"/>
              <a:pathLst>
                <a:path w="3735704" h="20320">
                  <a:moveTo>
                    <a:pt x="3735466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3735466" y="0"/>
                  </a:lnTo>
                  <a:lnTo>
                    <a:pt x="3735466" y="19922"/>
                  </a:lnTo>
                  <a:close/>
                </a:path>
              </a:pathLst>
            </a:custGeom>
            <a:solidFill>
              <a:srgbClr val="D9D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15433" y="4154891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5" h="438785">
                  <a:moveTo>
                    <a:pt x="358604" y="438294"/>
                  </a:moveTo>
                  <a:lnTo>
                    <a:pt x="79690" y="438294"/>
                  </a:lnTo>
                  <a:lnTo>
                    <a:pt x="71839" y="437915"/>
                  </a:lnTo>
                  <a:lnTo>
                    <a:pt x="35407" y="424876"/>
                  </a:lnTo>
                  <a:lnTo>
                    <a:pt x="9419" y="396207"/>
                  </a:lnTo>
                  <a:lnTo>
                    <a:pt x="0" y="358604"/>
                  </a:lnTo>
                  <a:lnTo>
                    <a:pt x="0" y="79690"/>
                  </a:lnTo>
                  <a:lnTo>
                    <a:pt x="9419" y="42085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90" y="0"/>
                  </a:lnTo>
                  <a:lnTo>
                    <a:pt x="358604" y="0"/>
                  </a:lnTo>
                  <a:lnTo>
                    <a:pt x="396207" y="9419"/>
                  </a:lnTo>
                  <a:lnTo>
                    <a:pt x="424876" y="35407"/>
                  </a:lnTo>
                  <a:lnTo>
                    <a:pt x="437915" y="71839"/>
                  </a:lnTo>
                  <a:lnTo>
                    <a:pt x="438294" y="79690"/>
                  </a:lnTo>
                  <a:lnTo>
                    <a:pt x="438294" y="358604"/>
                  </a:lnTo>
                  <a:lnTo>
                    <a:pt x="428873" y="396207"/>
                  </a:lnTo>
                  <a:lnTo>
                    <a:pt x="402886" y="424876"/>
                  </a:lnTo>
                  <a:lnTo>
                    <a:pt x="366454" y="437915"/>
                  </a:lnTo>
                  <a:lnTo>
                    <a:pt x="358604" y="438294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7342" y="4319978"/>
              <a:ext cx="134476" cy="12129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980008" y="3746479"/>
              <a:ext cx="3725545" cy="20320"/>
            </a:xfrm>
            <a:custGeom>
              <a:avLst/>
              <a:gdLst/>
              <a:ahLst/>
              <a:cxnLst/>
              <a:rect l="l" t="t" r="r" b="b"/>
              <a:pathLst>
                <a:path w="3725545" h="20320">
                  <a:moveTo>
                    <a:pt x="3725505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3725505" y="0"/>
                  </a:lnTo>
                  <a:lnTo>
                    <a:pt x="3725505" y="19922"/>
                  </a:lnTo>
                  <a:close/>
                </a:path>
              </a:pathLst>
            </a:custGeom>
            <a:solidFill>
              <a:srgbClr val="D9D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80008" y="4154891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358605" y="438294"/>
                  </a:moveTo>
                  <a:lnTo>
                    <a:pt x="79690" y="438294"/>
                  </a:lnTo>
                  <a:lnTo>
                    <a:pt x="71839" y="437915"/>
                  </a:lnTo>
                  <a:lnTo>
                    <a:pt x="35407" y="424876"/>
                  </a:lnTo>
                  <a:lnTo>
                    <a:pt x="9419" y="396207"/>
                  </a:lnTo>
                  <a:lnTo>
                    <a:pt x="0" y="358604"/>
                  </a:lnTo>
                  <a:lnTo>
                    <a:pt x="0" y="79690"/>
                  </a:lnTo>
                  <a:lnTo>
                    <a:pt x="9419" y="42085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90" y="0"/>
                  </a:lnTo>
                  <a:lnTo>
                    <a:pt x="358605" y="0"/>
                  </a:lnTo>
                  <a:lnTo>
                    <a:pt x="396207" y="9419"/>
                  </a:lnTo>
                  <a:lnTo>
                    <a:pt x="424876" y="35407"/>
                  </a:lnTo>
                  <a:lnTo>
                    <a:pt x="437915" y="71839"/>
                  </a:lnTo>
                  <a:lnTo>
                    <a:pt x="438295" y="79690"/>
                  </a:lnTo>
                  <a:lnTo>
                    <a:pt x="438295" y="358604"/>
                  </a:lnTo>
                  <a:lnTo>
                    <a:pt x="428873" y="396207"/>
                  </a:lnTo>
                  <a:lnTo>
                    <a:pt x="402885" y="424876"/>
                  </a:lnTo>
                  <a:lnTo>
                    <a:pt x="366455" y="437915"/>
                  </a:lnTo>
                  <a:lnTo>
                    <a:pt x="358605" y="438294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4445" y="4299328"/>
              <a:ext cx="149418" cy="14941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15433" y="5081286"/>
              <a:ext cx="3735704" cy="20320"/>
            </a:xfrm>
            <a:custGeom>
              <a:avLst/>
              <a:gdLst/>
              <a:ahLst/>
              <a:cxnLst/>
              <a:rect l="l" t="t" r="r" b="b"/>
              <a:pathLst>
                <a:path w="3735704" h="20320">
                  <a:moveTo>
                    <a:pt x="3735466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3735466" y="0"/>
                  </a:lnTo>
                  <a:lnTo>
                    <a:pt x="3735466" y="19922"/>
                  </a:lnTo>
                  <a:close/>
                </a:path>
              </a:pathLst>
            </a:custGeom>
            <a:solidFill>
              <a:srgbClr val="D9D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15433" y="5370162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5" h="438785">
                  <a:moveTo>
                    <a:pt x="358604" y="438294"/>
                  </a:moveTo>
                  <a:lnTo>
                    <a:pt x="79690" y="438294"/>
                  </a:lnTo>
                  <a:lnTo>
                    <a:pt x="71839" y="437915"/>
                  </a:lnTo>
                  <a:lnTo>
                    <a:pt x="35407" y="424876"/>
                  </a:lnTo>
                  <a:lnTo>
                    <a:pt x="9420" y="396207"/>
                  </a:lnTo>
                  <a:lnTo>
                    <a:pt x="0" y="358604"/>
                  </a:lnTo>
                  <a:lnTo>
                    <a:pt x="0" y="79689"/>
                  </a:lnTo>
                  <a:lnTo>
                    <a:pt x="9419" y="42085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90" y="0"/>
                  </a:lnTo>
                  <a:lnTo>
                    <a:pt x="358604" y="0"/>
                  </a:lnTo>
                  <a:lnTo>
                    <a:pt x="396207" y="9419"/>
                  </a:lnTo>
                  <a:lnTo>
                    <a:pt x="424876" y="35407"/>
                  </a:lnTo>
                  <a:lnTo>
                    <a:pt x="437915" y="71839"/>
                  </a:lnTo>
                  <a:lnTo>
                    <a:pt x="438294" y="79689"/>
                  </a:lnTo>
                  <a:lnTo>
                    <a:pt x="438294" y="358604"/>
                  </a:lnTo>
                  <a:lnTo>
                    <a:pt x="428873" y="396207"/>
                  </a:lnTo>
                  <a:lnTo>
                    <a:pt x="402886" y="424876"/>
                  </a:lnTo>
                  <a:lnTo>
                    <a:pt x="366454" y="437915"/>
                  </a:lnTo>
                  <a:lnTo>
                    <a:pt x="358604" y="438294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59871" y="5537012"/>
              <a:ext cx="149418" cy="10459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980008" y="5081286"/>
              <a:ext cx="3725545" cy="20320"/>
            </a:xfrm>
            <a:custGeom>
              <a:avLst/>
              <a:gdLst/>
              <a:ahLst/>
              <a:cxnLst/>
              <a:rect l="l" t="t" r="r" b="b"/>
              <a:pathLst>
                <a:path w="3725545" h="20320">
                  <a:moveTo>
                    <a:pt x="3725505" y="19922"/>
                  </a:moveTo>
                  <a:lnTo>
                    <a:pt x="0" y="19922"/>
                  </a:lnTo>
                  <a:lnTo>
                    <a:pt x="0" y="0"/>
                  </a:lnTo>
                  <a:lnTo>
                    <a:pt x="3725505" y="0"/>
                  </a:lnTo>
                  <a:lnTo>
                    <a:pt x="3725505" y="19922"/>
                  </a:lnTo>
                  <a:close/>
                </a:path>
              </a:pathLst>
            </a:custGeom>
            <a:solidFill>
              <a:srgbClr val="D9D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980008" y="5370162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358605" y="438294"/>
                  </a:moveTo>
                  <a:lnTo>
                    <a:pt x="79690" y="438294"/>
                  </a:lnTo>
                  <a:lnTo>
                    <a:pt x="71839" y="437915"/>
                  </a:lnTo>
                  <a:lnTo>
                    <a:pt x="35407" y="424876"/>
                  </a:lnTo>
                  <a:lnTo>
                    <a:pt x="9419" y="396207"/>
                  </a:lnTo>
                  <a:lnTo>
                    <a:pt x="0" y="358604"/>
                  </a:lnTo>
                  <a:lnTo>
                    <a:pt x="0" y="79689"/>
                  </a:lnTo>
                  <a:lnTo>
                    <a:pt x="9419" y="42085"/>
                  </a:lnTo>
                  <a:lnTo>
                    <a:pt x="35407" y="13417"/>
                  </a:lnTo>
                  <a:lnTo>
                    <a:pt x="71839" y="379"/>
                  </a:lnTo>
                  <a:lnTo>
                    <a:pt x="79690" y="0"/>
                  </a:lnTo>
                  <a:lnTo>
                    <a:pt x="358605" y="0"/>
                  </a:lnTo>
                  <a:lnTo>
                    <a:pt x="396207" y="9419"/>
                  </a:lnTo>
                  <a:lnTo>
                    <a:pt x="424876" y="35407"/>
                  </a:lnTo>
                  <a:lnTo>
                    <a:pt x="437915" y="71839"/>
                  </a:lnTo>
                  <a:lnTo>
                    <a:pt x="438295" y="79689"/>
                  </a:lnTo>
                  <a:lnTo>
                    <a:pt x="438295" y="358604"/>
                  </a:lnTo>
                  <a:lnTo>
                    <a:pt x="428873" y="396207"/>
                  </a:lnTo>
                  <a:lnTo>
                    <a:pt x="402885" y="424876"/>
                  </a:lnTo>
                  <a:lnTo>
                    <a:pt x="366455" y="437915"/>
                  </a:lnTo>
                  <a:lnTo>
                    <a:pt x="358605" y="438294"/>
                  </a:lnTo>
                  <a:close/>
                </a:path>
              </a:pathLst>
            </a:custGeom>
            <a:solidFill>
              <a:srgbClr val="E6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24445" y="5515183"/>
              <a:ext cx="141947" cy="14883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6215" y="6476999"/>
              <a:ext cx="161543" cy="115823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560563" y="3829893"/>
            <a:ext cx="113157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40" dirty="0">
                <a:solidFill>
                  <a:srgbClr val="1B2024"/>
                </a:solidFill>
                <a:latin typeface="Arial MT"/>
                <a:cs typeface="Arial MT"/>
              </a:rPr>
              <a:t>Stack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Overflow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10" dirty="0"/>
              <a:t>Made</a:t>
            </a:r>
            <a:r>
              <a:rPr spc="-90" dirty="0"/>
              <a:t> </a:t>
            </a:r>
            <a:r>
              <a:rPr spc="-20" dirty="0"/>
              <a:t>with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5" dirty="0"/>
              <a:t>Alai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560563" y="4117320"/>
            <a:ext cx="3025775" cy="742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sz="1350" spc="-100" dirty="0">
                <a:solidFill>
                  <a:srgbClr val="60646B"/>
                </a:solidFill>
                <a:latin typeface="Lucida Sans Unicode"/>
                <a:cs typeface="Lucida Sans Unicode"/>
              </a:rPr>
              <a:t>Community-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driven</a:t>
            </a:r>
            <a:r>
              <a:rPr sz="1350" spc="-4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platform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60646B"/>
                </a:solidFill>
                <a:latin typeface="Lucida Sans Unicode"/>
                <a:cs typeface="Lucida Sans Unicode"/>
              </a:rPr>
              <a:t>for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troubleshooting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specific</a:t>
            </a:r>
            <a:r>
              <a:rPr sz="1350" spc="-2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implementation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issues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and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solutions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25137" y="3829893"/>
            <a:ext cx="111950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45" dirty="0">
                <a:solidFill>
                  <a:srgbClr val="1B2024"/>
                </a:solidFill>
                <a:latin typeface="Arial MT"/>
                <a:cs typeface="Arial MT"/>
              </a:rPr>
              <a:t>Python</a:t>
            </a:r>
            <a:r>
              <a:rPr sz="1350" spc="-5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Forums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25137" y="4117320"/>
            <a:ext cx="2850515" cy="742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Discussion 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boards</a:t>
            </a: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for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resolving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development</a:t>
            </a: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5" dirty="0">
                <a:solidFill>
                  <a:srgbClr val="60646B"/>
                </a:solidFill>
                <a:latin typeface="Lucida Sans Unicode"/>
                <a:cs typeface="Lucida Sans Unicode"/>
              </a:rPr>
              <a:t>challenges</a:t>
            </a:r>
            <a:r>
              <a:rPr sz="1350" spc="-4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and</a:t>
            </a:r>
            <a:r>
              <a:rPr sz="1350" spc="-4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60646B"/>
                </a:solidFill>
                <a:latin typeface="Lucida Sans Unicode"/>
                <a:cs typeface="Lucida Sans Unicode"/>
              </a:rPr>
              <a:t>technical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questions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6491" y="5140052"/>
            <a:ext cx="6686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078D5"/>
                </a:solidFill>
                <a:latin typeface="Lucida Sans Unicode"/>
                <a:cs typeface="Lucida Sans Unicode"/>
              </a:rPr>
              <a:t>LEARNING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60563" y="5164700"/>
            <a:ext cx="115951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35" dirty="0">
                <a:solidFill>
                  <a:srgbClr val="1B2024"/>
                </a:solidFill>
                <a:latin typeface="Arial MT"/>
                <a:cs typeface="Arial MT"/>
              </a:rPr>
              <a:t>Online</a:t>
            </a:r>
            <a:r>
              <a:rPr sz="1350" spc="-105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1B2024"/>
                </a:solidFill>
                <a:latin typeface="Arial MT"/>
                <a:cs typeface="Arial MT"/>
              </a:rPr>
              <a:t>Tutorials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60563" y="5452127"/>
            <a:ext cx="2866390" cy="50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Video</a:t>
            </a:r>
            <a:r>
              <a:rPr sz="1350" spc="-5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and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written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tutorials focused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60646B"/>
                </a:solidFill>
                <a:latin typeface="Lucida Sans Unicode"/>
                <a:cs typeface="Lucida Sans Unicode"/>
              </a:rPr>
              <a:t>on </a:t>
            </a:r>
            <a:r>
              <a:rPr sz="1350" spc="-110" dirty="0">
                <a:solidFill>
                  <a:srgbClr val="60646B"/>
                </a:solidFill>
                <a:latin typeface="Lucida Sans Unicode"/>
                <a:cs typeface="Lucida Sans Unicode"/>
              </a:rPr>
              <a:t>Tkinter</a:t>
            </a:r>
            <a:r>
              <a:rPr sz="1350" spc="-5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GUI</a:t>
            </a:r>
            <a:r>
              <a:rPr sz="1350" spc="-4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60646B"/>
                </a:solidFill>
                <a:latin typeface="Lucida Sans Unicode"/>
                <a:cs typeface="Lucida Sans Unicode"/>
              </a:rPr>
              <a:t>development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0646B"/>
                </a:solidFill>
                <a:latin typeface="Lucida Sans Unicode"/>
                <a:cs typeface="Lucida Sans Unicode"/>
              </a:rPr>
              <a:t>techniques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25137" y="5164700"/>
            <a:ext cx="117919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30" dirty="0">
                <a:solidFill>
                  <a:srgbClr val="1B2024"/>
                </a:solidFill>
                <a:latin typeface="Arial MT"/>
                <a:cs typeface="Arial MT"/>
              </a:rPr>
              <a:t>GitHub</a:t>
            </a:r>
            <a:r>
              <a:rPr sz="1350" spc="-60" dirty="0">
                <a:solidFill>
                  <a:srgbClr val="1B202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B2024"/>
                </a:solidFill>
                <a:latin typeface="Arial MT"/>
                <a:cs typeface="Arial MT"/>
              </a:rPr>
              <a:t>Projects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25137" y="5452127"/>
            <a:ext cx="3075940" cy="50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sz="1350" spc="-100" dirty="0">
                <a:solidFill>
                  <a:srgbClr val="60646B"/>
                </a:solidFill>
                <a:latin typeface="Lucida Sans Unicode"/>
                <a:cs typeface="Lucida Sans Unicode"/>
              </a:rPr>
              <a:t>Example</a:t>
            </a:r>
            <a:r>
              <a:rPr sz="1350" spc="-5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70" dirty="0">
                <a:solidFill>
                  <a:srgbClr val="60646B"/>
                </a:solidFill>
                <a:latin typeface="Lucida Sans Unicode"/>
                <a:cs typeface="Lucida Sans Unicode"/>
              </a:rPr>
              <a:t>repositories</a:t>
            </a:r>
            <a:r>
              <a:rPr sz="1350" spc="-4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5" dirty="0">
                <a:solidFill>
                  <a:srgbClr val="60646B"/>
                </a:solidFill>
                <a:latin typeface="Lucida Sans Unicode"/>
                <a:cs typeface="Lucida Sans Unicode"/>
              </a:rPr>
              <a:t>demonstrating</a:t>
            </a:r>
            <a:r>
              <a:rPr sz="1350" spc="-80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60646B"/>
                </a:solidFill>
                <a:latin typeface="Lucida Sans Unicode"/>
                <a:cs typeface="Lucida Sans Unicode"/>
              </a:rPr>
              <a:t>best </a:t>
            </a:r>
            <a:r>
              <a:rPr sz="1350" spc="-55" dirty="0">
                <a:solidFill>
                  <a:srgbClr val="60646B"/>
                </a:solidFill>
                <a:latin typeface="Lucida Sans Unicode"/>
                <a:cs typeface="Lucida Sans Unicode"/>
              </a:rPr>
              <a:t>practices</a:t>
            </a:r>
            <a:r>
              <a:rPr sz="1350" spc="-65" dirty="0">
                <a:solidFill>
                  <a:srgbClr val="60646B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60646B"/>
                </a:solidFill>
                <a:latin typeface="Lucida Sans Unicode"/>
                <a:cs typeface="Lucida Sans Unicode"/>
              </a:rPr>
              <a:t>and</a:t>
            </a:r>
            <a:r>
              <a:rPr sz="1350" spc="-75" dirty="0">
                <a:solidFill>
                  <a:srgbClr val="60646B"/>
                </a:solidFill>
                <a:latin typeface="Lucida Sans Unicode"/>
                <a:cs typeface="Lucida Sans Unicode"/>
              </a:rPr>
              <a:t> reference implementations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spc="-160" dirty="0"/>
              <a:t>Thank</a:t>
            </a:r>
            <a:r>
              <a:rPr sz="3300" spc="-254" dirty="0"/>
              <a:t> </a:t>
            </a:r>
            <a:r>
              <a:rPr sz="3300" spc="-70" dirty="0"/>
              <a:t>you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016570" y="3608068"/>
            <a:ext cx="616077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65" dirty="0">
                <a:solidFill>
                  <a:srgbClr val="60646B"/>
                </a:solidFill>
                <a:latin typeface="Arial MT"/>
                <a:cs typeface="Arial MT"/>
              </a:rPr>
              <a:t>For</a:t>
            </a:r>
            <a:r>
              <a:rPr sz="1700" spc="-85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60646B"/>
                </a:solidFill>
                <a:latin typeface="Arial MT"/>
                <a:cs typeface="Arial MT"/>
              </a:rPr>
              <a:t>any</a:t>
            </a:r>
            <a:r>
              <a:rPr sz="1700" spc="-70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60646B"/>
                </a:solidFill>
                <a:latin typeface="Arial MT"/>
                <a:cs typeface="Arial MT"/>
              </a:rPr>
              <a:t>further</a:t>
            </a:r>
            <a:r>
              <a:rPr sz="1700" spc="-85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60646B"/>
                </a:solidFill>
                <a:latin typeface="Arial MT"/>
                <a:cs typeface="Arial MT"/>
              </a:rPr>
              <a:t>questions</a:t>
            </a:r>
            <a:r>
              <a:rPr sz="1700" spc="-65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60646B"/>
                </a:solidFill>
                <a:latin typeface="Arial MT"/>
                <a:cs typeface="Arial MT"/>
              </a:rPr>
              <a:t>or</a:t>
            </a:r>
            <a:r>
              <a:rPr sz="1700" spc="-85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60646B"/>
                </a:solidFill>
                <a:latin typeface="Arial MT"/>
                <a:cs typeface="Arial MT"/>
              </a:rPr>
              <a:t>feedback,</a:t>
            </a:r>
            <a:r>
              <a:rPr sz="1700" spc="-25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60646B"/>
                </a:solidFill>
                <a:latin typeface="Arial MT"/>
                <a:cs typeface="Arial MT"/>
              </a:rPr>
              <a:t>please</a:t>
            </a:r>
            <a:r>
              <a:rPr sz="1700" spc="-90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60646B"/>
                </a:solidFill>
                <a:latin typeface="Arial MT"/>
                <a:cs typeface="Arial MT"/>
              </a:rPr>
              <a:t>feel</a:t>
            </a:r>
            <a:r>
              <a:rPr sz="1700" spc="-95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60646B"/>
                </a:solidFill>
                <a:latin typeface="Arial MT"/>
                <a:cs typeface="Arial MT"/>
              </a:rPr>
              <a:t>free</a:t>
            </a:r>
            <a:r>
              <a:rPr sz="1700" spc="-90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80" dirty="0">
                <a:solidFill>
                  <a:srgbClr val="60646B"/>
                </a:solidFill>
                <a:latin typeface="Arial MT"/>
                <a:cs typeface="Arial MT"/>
              </a:rPr>
              <a:t>to</a:t>
            </a:r>
            <a:r>
              <a:rPr sz="1700" spc="-70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60646B"/>
                </a:solidFill>
                <a:latin typeface="Arial MT"/>
                <a:cs typeface="Arial MT"/>
              </a:rPr>
              <a:t>reach</a:t>
            </a:r>
            <a:r>
              <a:rPr sz="1700" spc="-95" dirty="0">
                <a:solidFill>
                  <a:srgbClr val="60646B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60646B"/>
                </a:solidFill>
                <a:latin typeface="Arial MT"/>
                <a:cs typeface="Arial MT"/>
              </a:rPr>
              <a:t>out.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378</Words>
  <Application>Microsoft Office PowerPoint</Application>
  <PresentationFormat>Custom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MT</vt:lpstr>
      <vt:lpstr>Lucida Sans Unicode</vt:lpstr>
      <vt:lpstr>Tahoma</vt:lpstr>
      <vt:lpstr>Trebuchet MS</vt:lpstr>
      <vt:lpstr>Office Theme</vt:lpstr>
      <vt:lpstr>Scientific Calculator Application</vt:lpstr>
      <vt:lpstr>Scientific Calculator</vt:lpstr>
      <vt:lpstr>Calculator Interface</vt:lpstr>
      <vt:lpstr>Challenges Faced</vt:lpstr>
      <vt:lpstr>Solutions Implemented</vt:lpstr>
      <vt:lpstr>Resources Used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Kumar</cp:lastModifiedBy>
  <cp:revision>1</cp:revision>
  <dcterms:created xsi:type="dcterms:W3CDTF">2025-11-25T17:27:31Z</dcterms:created>
  <dcterms:modified xsi:type="dcterms:W3CDTF">2025-11-25T17:40:29Z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Producer">
    <vt:lpwstr>PyPDF2</vt:lpwstr>
  </property>
  <property fmtid="{D5CDD505-2E9C-101B-9397-08002B2CF9AE}" pid="4" name="LastSaved">
    <vt:filetime>2025-11-25T00:00:00Z</vt:filetime>
  </property>
</Properties>
</file>